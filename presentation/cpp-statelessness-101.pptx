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Welcome. This is Statelessness 101 — the on-ramp. If you've already read the compendium, this will feel familiar and brief; it's meant for a C++ developer coming to the subject cold.</a:t>
            </a:r>
          </a:p>
          <a:p>
            <a:r>
              <a:rPr sz="1200"/>
              <a:t>Four things in twenty-some slides: why statelessness is worth caring about as a C++ developer specifically, what an orchestrator actually does to your process (kill, replace, replicate), a shallow pass over the three scopes of state, and RAII as the one mechanism you need today.</a:t>
            </a:r>
          </a:p>
          <a:p>
            <a:r>
              <a:rPr sz="1200"/>
              <a:t>This deck carries no demos of its own. Every pattern it touches has a runnable, host-verified demo in the compendium — the pointer forward is explicit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Five short sections. The first establishes why this matters for a C++ developer specifically. The second and third give you the orchestrator's vocabulary and the scope vocabulary, both at shallow depth. The fourth lands RAII as the one mechanism to take away today. The fifth is a map of where the compendium picks each thread back up.</a:t>
            </a:r>
          </a:p>
          <a:p>
            <a:r>
              <a:rPr sz="1200"/>
              <a:t>There are no demo cues in this deck — it's an introduction, not a worked example. The compendium is where you'll run things.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Welcome. This is the on-ramp, not the deep dive. If you haven't read the statelessness compendium, start here. We're going to build the vocabulary and the one mechanism you need before the deeper material makes sense.</a:t>
            </a:r>
          </a:p>
          <a:p>
            <a:r>
              <a:rPr sz="1200"/>
              <a:t>The starting question: why does a C++ developer, who already knows RAII and the STL cold, need a whole talk about statelessness? Because the thing that breaks under containers isn't your C++. It's habits that were harmless on a dedicated box and become correctness bugs the moment an orchestrator can kill, replace, or multiply your process without asking.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Each of these three examples compiles fine, passes unit tests, and works perfectly in a demo with one instance and one developer hitting it. The session cache answers correctly as long as the same replica keeps serving the same user. The rate limiter is correct as long as there's exactly one copy counting. The background file handle is fine until the container restarts and the file it opened doesn't exist in the new one.</a:t>
            </a:r>
          </a:p>
          <a:p>
            <a:r>
              <a:rPr sz="1200"/>
              <a:t>None of these are C++ bugs. The language did exactly what it was told. They're state-placement bugs: data that needs to survive a restart, or needs to be shared across replicas, got put somewhere that neither survives nor is shared.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mental shift. On a dedicated box, the process is basically permanent: it starts once, maybe gets restarted during a deploy window you control, and there's exactly one of it. Under an orchestrator, none of that holds. Kubernetes or Nomad or whatever you're running will kill and restart your process for reasons that have nothing to do with your code: a node needs to drain, a rolling update is in progress, the autoscaler decided to add or remove replicas.</a:t>
            </a:r>
          </a:p>
          <a:p>
            <a:r>
              <a:rPr sz="1200"/>
              <a:t>The practical consequence: anything your process is the only copy of, is at risk of disappearing without warning. And anything you assumed was consistent across requests because they all hit 'your' process is wrong the moment there are two replicas, because the load balancer picks whichever one is free.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Four framing numbers for today's session. Any replica answers any request: that's the interchangeability property we're aiming for. Zero coordination to kill one: that's the operational payoff, and it's what the orchestrator is relying on when it reschedules work. Restarts are routine, not incidents: if a restart loses data or breaks a client, that's a design gap, not bad luck. And the last one is the thesis of the whole on-ramp: it's one binary, and whether it's stateless is a property of where it keeps data, not a property you can read off the source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Deployment posture is the term for the contract between your process and the orchestrator. It's not about what your code does; it's about what the orchestrator is allowed to do to your process without asking permission first. Three verbs cover it: kill, replace, replicate.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Kill is the base case. It can happen for operational reasons that have nothing to do with your service being unhealthy: node maintenance, a deploy, a cost-driven scale-down. Your process gets a chance to shut down gracefully (a grace period after the first signal), but it does not get a vote on whether or when this happens.</a:t>
            </a:r>
          </a:p>
          <a:p>
            <a:r>
              <a:rPr sz="1200"/>
              <a:t>The compendium has a full document on graceful shutdown and health checks that goes into exactly how to use that grace period well. For now, the point is narrower: design so that a kill at a bad moment costs you a restart, never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Replace follows kill: the orchestrator doesn't just remove a replica, it typically starts a fresh one to take its place. That fresh one is a brand-new process. It has no memory of the one it's replacing — same binary, same image, zero shared state.</a:t>
            </a:r>
          </a:p>
          <a:p>
            <a:r>
              <a:rPr sz="1200"/>
              <a:t>This is the first hint of the scope vocabulary we're about to introduce properly: there's a category of state that's fine to lose on replace, because it's cheap to rebuild — thread pools, connection pools, parsed configuration. We'll call that process scope in the next section.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Replicate is what makes kill and replace survivable at scale: because there's more than one copy, losing one doesn't take the service down. But replicate only pays off if the replicas are actually interchangeable. If replica A remembers something replica B doesn't, a request routed to B gets a wrong or inconsistent answer — and the load balancer has no way to know it should have gone to A.</a:t>
            </a:r>
          </a:p>
          <a:p>
            <a:r>
              <a:rPr sz="1200"/>
              <a:t>Put the three together: kill means any replica can end at any time, replace means its successor starts from zero, and replicate means a request can land on any of them. Statelessness is simply the property that makes all three safe at once.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scopes of state show up everywhere in the compendium, so it's worth getting the shallow version right here. This section is deliberately brief — each of these gets a full document's worth of treatment in the 201 deck. The goal today is just to recognize the three buckets and know which one is dangerous to get wrong.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Request scope is the easiest of the three because C++ already has a mechanism built for exactly this shape: a stack-allocated or scope-owned object whose lifetime matches the handler function. We'll make that concrete with RAII in the next section.</a:t>
            </a:r>
          </a:p>
          <a:p>
            <a:r>
              <a:rPr sz="1200"/>
              <a:t>The risk to watch for is a reference to request-scoped data escaping its scope — a pointer stashed in a process-scoped cache, a background task capturing something by reference. That's how request scope quietly turns into a lifetime bug.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Process scope is where a lot of legitimate, useful state lives: pools you don't want to rebuild per request, config you parsed once, maybe an in-memory cache that's purely a performance optimization. The compendium's document on process-scoped ownership goes deep on how to size and own this explicitly instead of letting it accrete as singletons.</a:t>
            </a:r>
          </a:p>
          <a:p>
            <a:r>
              <a:rPr sz="1200"/>
              <a:t>The one rule that keeps process scope safe: it has to be re-creatable. If losing it on restart would lose data a client cares about, it's not process scope, it's accidentally external state that forgot to leave the process.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External state is the answer to the question request scope and process scope both raise: where does data that has to survive a kill actually live? Outside the process, in something the orchestrator isn't managing as a disposable replica — a database, a durable queue, a distributed cache.</a:t>
            </a:r>
          </a:p>
          <a:p>
            <a:r>
              <a:rPr sz="1200"/>
              <a:t>This is also where the real engineering difficulty shows up, because reaching external state safely from a process that can die mid-call needs its own patterns: connection pooling with RAII checkout, idempotent writes, retry policies that don't double-charge a customer. That's the state externalization document in the compendium — this slide is the whole of what we cover today, the pointer is where to go deeper.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Every scope so far has been a description of where state ought to live. RAII is the one piece of actual mechanism in this on-ramp: the C++ language feature that turns 'request scope' from a design intention into something the compiler enforces for you.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If you've used std::unique_ptr, std::lock_guard, or a std::fstream, you've already used RAII — this is nothing new as a C++ idiom. What's new here is the framing: RAII isn't just a memory-safety trick, it's the mechanism that makes request scope real.</a:t>
            </a:r>
          </a:p>
          <a:p>
            <a:r>
              <a:rPr sz="1200"/>
              <a:t>A request handler can early-return on a validation failure, throw on a downstream error, or run to completion normally. Without RAII you'd need cleanup code on every one of those paths, and it's easy to miss one. With RAII, the destructor runs regardless of which path was taken, because it's tied to the object going out of scope, not to a particular line of code executing.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Walk through this slowly. RequestContext owns one thing: a pooled connection, acquired in the constructor. It doesn't have a close() or release() method that handle() has to remember to call — there's nothing to remember.</a:t>
            </a:r>
          </a:p>
          <a:p>
            <a:r>
              <a:rPr sz="1200"/>
              <a:t>Look at the three ways handle() can end: an early return on invalid input, an exception thrown from execute(), or a normal fall-through at the end. All three destroy ctx. All three return the connection to the pool exactly once. This is the entire trick: request scope is enforced by the compiler's own stack-unwinding machinery, not by developer discipline at every call site.</a:t>
            </a:r>
          </a:p>
          <a:p>
            <a:r>
              <a:rPr sz="1200"/>
              <a:t>The compendium's RAII document builds this pattern out further — layering in request-scoped memory arenas, distributed tracing spans, and the full exception-safety guarantee taxonomy. This is the seed of all of that.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bridge slide back to the bigger picture. Languages with a garbage collector get memory safety automatically but don't get deterministic, scope-tied cleanup — a connection or a file handle held by a finalizer can linger arbitrarily long after you're done with it. C++ trades that automatic memory safety for deterministic destruction, and that's exactly the guarantee request scope needs.</a:t>
            </a:r>
          </a:p>
          <a:p>
            <a:r>
              <a:rPr sz="1200"/>
              <a:t>Hold onto this one idea past today: statelessness is a deployment posture, and RAII is the C++-specific mechanism that makes the request-scope half of that posture enforceable instead of aspirational.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That's the on-ramp: why statelessness matters, the three verbs the orchestrator uses against your process, the three scopes of state, and RAII as the mechanism that makes request scope real. Everything from here is the compendium's job, and this last section is a map of where each loose end gets picked back 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Everything on this slide is a direct extension of something we introduced today, not new material out of nowhere. PMR builds on RAII's acquire-release shape to give request-scoped memory without a per-request heap allocation. Process-scoped ownership builds on the process-scope definition with a concrete pattern for assembling it at startup. State externalization is the full engineering answer to the external-state scope we only named today. And the gRPC end-to-end example shows all three scopes, RAII, PMR, and externalization composed into one real service.</a:t>
            </a:r>
          </a:p>
          <a:p>
            <a:r>
              <a:rPr sz="1200"/>
              <a:t>Read the documents in order if you want the full arc; each one stands alone if you already know roughly where you need depth. Every pattern in the compendium has a runnable Podman demo, host-verified end to end — this on-ramp doesn't carry its own demos, the compendium's 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If none of the detail sticks, this is the sentence to keep: the same C++ binary can be stateless or stateful depending only on where it keeps state, and RAII is the tool that makes the request-scope part of that trustworthy rather than a matter of discipline.</a:t>
            </a:r>
          </a:p>
          <a:p>
            <a:r>
              <a:rPr sz="1200"/>
              <a:t>From here, go to the compendium. Start with the deployment posture document if you want the fuller version of today's opening, or jump straight to RAII if you want the deep version of what we just showed. Thanks for starting here.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That's the on-ramp. You now have the vocabulary — kill, replace, replicate; request, process, and external scope — and the one mechanism, RAII, that makes the request-scope part of it real in C++.</a:t>
            </a:r>
          </a:p>
          <a:p>
            <a:r>
              <a:rPr sz="1200"/>
              <a:t>The compendium is the next stop: the same vocabulary, developed across eleven documents, ending in a gRPC service that composes every pattern we only named today. Every one of those patterns has a runnable demo, host-verified end to end. Thanks for starting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B3C"/>
        </a:solidFill>
        <a:effectLst/>
      </p:bgPr>
    </p:bg>
    <p:spTree>
      <p:nvGrpSpPr>
        <p:cNvPr id="1" name=""/>
        <p:cNvGrpSpPr/>
        <p:nvPr/>
      </p:nvGrpSpPr>
      <p:grpSpPr/>
      <p:sp>
        <p:nvSpPr>
          <p:cNvPr id="2" name="Oval 1"/>
          <p:cNvSpPr/>
          <p:nvPr/>
        </p:nvSpPr>
        <p:spPr>
          <a:xfrm>
            <a:off x="914400" y="1371600"/>
            <a:ext cx="201168" cy="201168"/>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1371600"/>
            <a:ext cx="201168" cy="201168"/>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554480" y="1371600"/>
            <a:ext cx="201168" cy="201168"/>
          </a:xfrm>
          <a:prstGeom prst="ellipse">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32720" cy="457200"/>
          </a:xfrm>
          <a:prstGeom prst="rect">
            <a:avLst/>
          </a:prstGeom>
          <a:noFill/>
        </p:spPr>
        <p:txBody>
          <a:bodyPr wrap="square" anchor="t" lIns="45720" rIns="45720">
            <a:spAutoFit/>
          </a:bodyPr>
          <a:lstStyle/>
          <a:p>
            <a:pPr algn="l"/>
            <a:r>
              <a:rPr sz="2000" b="1" i="0">
                <a:solidFill>
                  <a:srgbClr val="27AE60"/>
                </a:solidFill>
                <a:latin typeface="Calibri"/>
              </a:rPr>
              <a:t>STATELESSNESS 101</a:t>
            </a:r>
          </a:p>
        </p:txBody>
      </p:sp>
      <p:sp>
        <p:nvSpPr>
          <p:cNvPr id="6" name="TextBox 5"/>
          <p:cNvSpPr txBox="1"/>
          <p:nvPr/>
        </p:nvSpPr>
        <p:spPr>
          <a:xfrm>
            <a:off x="914400" y="2286000"/>
            <a:ext cx="10332720" cy="1371600"/>
          </a:xfrm>
          <a:prstGeom prst="rect">
            <a:avLst/>
          </a:prstGeom>
          <a:noFill/>
        </p:spPr>
        <p:txBody>
          <a:bodyPr wrap="square" anchor="t" lIns="45720" rIns="45720">
            <a:spAutoFit/>
          </a:bodyPr>
          <a:lstStyle/>
          <a:p>
            <a:pPr algn="l"/>
            <a:r>
              <a:rPr sz="4400" b="1" i="0">
                <a:solidFill>
                  <a:srgbClr val="FFFFFF"/>
                </a:solidFill>
                <a:latin typeface="Calibri"/>
              </a:rPr>
              <a:t>A Gentle Start for C++ Services
Under an Orchestrator</a:t>
            </a:r>
          </a:p>
        </p:txBody>
      </p:sp>
      <p:sp>
        <p:nvSpPr>
          <p:cNvPr id="7" name="TextBox 6"/>
          <p:cNvSpPr txBox="1"/>
          <p:nvPr/>
        </p:nvSpPr>
        <p:spPr>
          <a:xfrm>
            <a:off x="914400" y="4114800"/>
            <a:ext cx="10332720" cy="457200"/>
          </a:xfrm>
          <a:prstGeom prst="rect">
            <a:avLst/>
          </a:prstGeom>
          <a:noFill/>
        </p:spPr>
        <p:txBody>
          <a:bodyPr wrap="square" anchor="t" lIns="45720" rIns="45720">
            <a:spAutoFit/>
          </a:bodyPr>
          <a:lstStyle/>
          <a:p>
            <a:pPr algn="l"/>
            <a:r>
              <a:rPr sz="1600" b="0" i="0">
                <a:solidFill>
                  <a:srgbClr val="ECF0F1"/>
                </a:solidFill>
                <a:latin typeface="Calibri"/>
              </a:rPr>
              <a:t>Why it matters  •  kill / replace / replicate  •  request / process / external scope  •  RAII</a:t>
            </a:r>
          </a:p>
        </p:txBody>
      </p:sp>
      <p:sp>
        <p:nvSpPr>
          <p:cNvPr id="8" name="TextBox 7"/>
          <p:cNvSpPr txBox="1"/>
          <p:nvPr/>
        </p:nvSpPr>
        <p:spPr>
          <a:xfrm>
            <a:off x="914400" y="4754880"/>
            <a:ext cx="10332720" cy="365760"/>
          </a:xfrm>
          <a:prstGeom prst="rect">
            <a:avLst/>
          </a:prstGeom>
          <a:noFill/>
        </p:spPr>
        <p:txBody>
          <a:bodyPr wrap="square" anchor="t" lIns="45720" rIns="45720">
            <a:spAutoFit/>
          </a:bodyPr>
          <a:lstStyle/>
          <a:p>
            <a:pPr algn="l"/>
            <a:r>
              <a:rPr sz="1400" b="0" i="1">
                <a:solidFill>
                  <a:srgbClr val="90A4AE"/>
                </a:solidFill>
                <a:latin typeface="Calibri"/>
              </a:rPr>
              <a:t>The on-ramp to the Statelessness Compendium — no prior reading required</a:t>
            </a:r>
          </a:p>
        </p:txBody>
      </p:sp>
      <p:sp>
        <p:nvSpPr>
          <p:cNvPr id="9" name="TextBox 8"/>
          <p:cNvSpPr txBox="1"/>
          <p:nvPr/>
        </p:nvSpPr>
        <p:spPr>
          <a:xfrm>
            <a:off x="914400" y="5394960"/>
            <a:ext cx="10332720" cy="365760"/>
          </a:xfrm>
          <a:prstGeom prst="rect">
            <a:avLst/>
          </a:prstGeom>
          <a:noFill/>
        </p:spPr>
        <p:txBody>
          <a:bodyPr wrap="square" anchor="t" lIns="45720" rIns="45720">
            <a:spAutoFit/>
          </a:bodyPr>
          <a:lstStyle/>
          <a:p>
            <a:pPr algn="l"/>
            <a:r>
              <a:rPr sz="1400" b="0" i="0">
                <a:solidFill>
                  <a:srgbClr val="27AE60"/>
                </a:solidFill>
                <a:latin typeface="Calibri"/>
              </a:rPr>
              <a:t>Start here if you haven't read the compendium yet</a:t>
            </a:r>
          </a:p>
        </p:txBody>
      </p:sp>
      <p:sp>
        <p:nvSpPr>
          <p:cNvPr id="10" name="TextBox 9"/>
          <p:cNvSpPr txBox="1"/>
          <p:nvPr/>
        </p:nvSpPr>
        <p:spPr>
          <a:xfrm>
            <a:off x="914400" y="5943600"/>
            <a:ext cx="10332720" cy="365760"/>
          </a:xfrm>
          <a:prstGeom prst="rect">
            <a:avLst/>
          </a:prstGeom>
          <a:noFill/>
        </p:spPr>
        <p:txBody>
          <a:bodyPr wrap="square" anchor="t" lIns="45720" rIns="45720">
            <a:spAutoFit/>
          </a:bodyPr>
          <a:lstStyle/>
          <a:p>
            <a:pPr algn="l"/>
            <a:r>
              <a:rPr sz="1100" b="0" i="0">
                <a:solidFill>
                  <a:srgbClr val="90A4AE"/>
                </a:solidFill>
                <a:latin typeface="Consolas"/>
              </a:rPr>
              <a:t>github.com/patterncatalyst/cpp-statelessness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Agenda — the on-ramp</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Overview</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Agenda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 / 22</a:t>
            </a:r>
          </a:p>
        </p:txBody>
      </p:sp>
      <p:sp>
        <p:nvSpPr>
          <p:cNvPr id="8" name="Oval 7"/>
          <p:cNvSpPr/>
          <p:nvPr/>
        </p:nvSpPr>
        <p:spPr>
          <a:xfrm>
            <a:off x="457200" y="1005840"/>
            <a:ext cx="457200" cy="457200"/>
          </a:xfrm>
          <a:prstGeom prst="ellipse">
            <a:avLst/>
          </a:prstGeom>
          <a:solidFill>
            <a:srgbClr val="E84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05840"/>
            <a:ext cx="457200" cy="457200"/>
          </a:xfrm>
          <a:prstGeom prst="rect">
            <a:avLst/>
          </a:prstGeom>
          <a:noFill/>
        </p:spPr>
        <p:txBody>
          <a:bodyPr wrap="square" anchor="ctr" lIns="45720" rIns="45720">
            <a:spAutoFit/>
          </a:bodyPr>
          <a:lstStyle/>
          <a:p>
            <a:pPr algn="ctr"/>
            <a:r>
              <a:rPr sz="1600" b="1" i="0">
                <a:solidFill>
                  <a:srgbClr val="FFFFFF"/>
                </a:solidFill>
                <a:latin typeface="Calibri"/>
              </a:rPr>
              <a:t>1</a:t>
            </a:r>
          </a:p>
        </p:txBody>
      </p:sp>
      <p:sp>
        <p:nvSpPr>
          <p:cNvPr id="10" name="TextBox 9"/>
          <p:cNvSpPr txBox="1"/>
          <p:nvPr/>
        </p:nvSpPr>
        <p:spPr>
          <a:xfrm>
            <a:off x="1051560" y="1005840"/>
            <a:ext cx="4754880" cy="457200"/>
          </a:xfrm>
          <a:prstGeom prst="rect">
            <a:avLst/>
          </a:prstGeom>
          <a:noFill/>
        </p:spPr>
        <p:txBody>
          <a:bodyPr wrap="square" anchor="ctr" lIns="45720" rIns="45720">
            <a:spAutoFit/>
          </a:bodyPr>
          <a:lstStyle/>
          <a:p>
            <a:pPr algn="l"/>
            <a:r>
              <a:rPr sz="1500" b="0" i="0">
                <a:solidFill>
                  <a:srgbClr val="1A2B3C"/>
                </a:solidFill>
                <a:latin typeface="Calibri"/>
              </a:rPr>
              <a:t>Why statelessness matters for C++ services</a:t>
            </a:r>
          </a:p>
        </p:txBody>
      </p:sp>
      <p:sp>
        <p:nvSpPr>
          <p:cNvPr id="11" name="Oval 10"/>
          <p:cNvSpPr/>
          <p:nvPr/>
        </p:nvSpPr>
        <p:spPr>
          <a:xfrm>
            <a:off x="457200" y="1572768"/>
            <a:ext cx="457200" cy="457200"/>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572768"/>
            <a:ext cx="457200" cy="457200"/>
          </a:xfrm>
          <a:prstGeom prst="rect">
            <a:avLst/>
          </a:prstGeom>
          <a:noFill/>
        </p:spPr>
        <p:txBody>
          <a:bodyPr wrap="square" anchor="ctr" lIns="45720" rIns="45720">
            <a:spAutoFit/>
          </a:bodyPr>
          <a:lstStyle/>
          <a:p>
            <a:pPr algn="ctr"/>
            <a:r>
              <a:rPr sz="1600" b="1" i="0">
                <a:solidFill>
                  <a:srgbClr val="FFFFFF"/>
                </a:solidFill>
                <a:latin typeface="Calibri"/>
              </a:rPr>
              <a:t>2</a:t>
            </a:r>
          </a:p>
        </p:txBody>
      </p:sp>
      <p:sp>
        <p:nvSpPr>
          <p:cNvPr id="13" name="TextBox 12"/>
          <p:cNvSpPr txBox="1"/>
          <p:nvPr/>
        </p:nvSpPr>
        <p:spPr>
          <a:xfrm>
            <a:off x="1051560" y="1572768"/>
            <a:ext cx="4754880" cy="457200"/>
          </a:xfrm>
          <a:prstGeom prst="rect">
            <a:avLst/>
          </a:prstGeom>
          <a:noFill/>
        </p:spPr>
        <p:txBody>
          <a:bodyPr wrap="square" anchor="ctr" lIns="45720" rIns="45720">
            <a:spAutoFit/>
          </a:bodyPr>
          <a:lstStyle/>
          <a:p>
            <a:pPr algn="l"/>
            <a:r>
              <a:rPr sz="1500" b="0" i="0">
                <a:solidFill>
                  <a:srgbClr val="1A2B3C"/>
                </a:solidFill>
                <a:latin typeface="Calibri"/>
              </a:rPr>
              <a:t>Stateless deployment posture: kill, replace, replicate</a:t>
            </a:r>
          </a:p>
        </p:txBody>
      </p:sp>
      <p:sp>
        <p:nvSpPr>
          <p:cNvPr id="14" name="Oval 13"/>
          <p:cNvSpPr/>
          <p:nvPr/>
        </p:nvSpPr>
        <p:spPr>
          <a:xfrm>
            <a:off x="457200" y="2139696"/>
            <a:ext cx="457200" cy="457200"/>
          </a:xfrm>
          <a:prstGeom prst="ellipse">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139696"/>
            <a:ext cx="457200" cy="457200"/>
          </a:xfrm>
          <a:prstGeom prst="rect">
            <a:avLst/>
          </a:prstGeom>
          <a:noFill/>
        </p:spPr>
        <p:txBody>
          <a:bodyPr wrap="square" anchor="ctr" lIns="45720" rIns="45720">
            <a:spAutoFit/>
          </a:bodyPr>
          <a:lstStyle/>
          <a:p>
            <a:pPr algn="ctr"/>
            <a:r>
              <a:rPr sz="1600" b="1" i="0">
                <a:solidFill>
                  <a:srgbClr val="FFFFFF"/>
                </a:solidFill>
                <a:latin typeface="Calibri"/>
              </a:rPr>
              <a:t>3</a:t>
            </a:r>
          </a:p>
        </p:txBody>
      </p:sp>
      <p:sp>
        <p:nvSpPr>
          <p:cNvPr id="16" name="TextBox 15"/>
          <p:cNvSpPr txBox="1"/>
          <p:nvPr/>
        </p:nvSpPr>
        <p:spPr>
          <a:xfrm>
            <a:off x="1051560" y="2139696"/>
            <a:ext cx="4754880" cy="457200"/>
          </a:xfrm>
          <a:prstGeom prst="rect">
            <a:avLst/>
          </a:prstGeom>
          <a:noFill/>
        </p:spPr>
        <p:txBody>
          <a:bodyPr wrap="square" anchor="ctr" lIns="45720" rIns="45720">
            <a:spAutoFit/>
          </a:bodyPr>
          <a:lstStyle/>
          <a:p>
            <a:pPr algn="l"/>
            <a:r>
              <a:rPr sz="1500" b="0" i="0">
                <a:solidFill>
                  <a:srgbClr val="1A2B3C"/>
                </a:solidFill>
                <a:latin typeface="Calibri"/>
              </a:rPr>
              <a:t>Three scopes, briefly</a:t>
            </a:r>
          </a:p>
        </p:txBody>
      </p:sp>
      <p:sp>
        <p:nvSpPr>
          <p:cNvPr id="17" name="Oval 16"/>
          <p:cNvSpPr/>
          <p:nvPr/>
        </p:nvSpPr>
        <p:spPr>
          <a:xfrm>
            <a:off x="457200" y="2706624"/>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706624"/>
            <a:ext cx="457200" cy="457200"/>
          </a:xfrm>
          <a:prstGeom prst="rect">
            <a:avLst/>
          </a:prstGeom>
          <a:noFill/>
        </p:spPr>
        <p:txBody>
          <a:bodyPr wrap="square" anchor="ctr" lIns="45720" rIns="45720">
            <a:spAutoFit/>
          </a:bodyPr>
          <a:lstStyle/>
          <a:p>
            <a:pPr algn="ctr"/>
            <a:r>
              <a:rPr sz="1600" b="1" i="0">
                <a:solidFill>
                  <a:srgbClr val="FFFFFF"/>
                </a:solidFill>
                <a:latin typeface="Calibri"/>
              </a:rPr>
              <a:t>4</a:t>
            </a:r>
          </a:p>
        </p:txBody>
      </p:sp>
      <p:sp>
        <p:nvSpPr>
          <p:cNvPr id="19" name="TextBox 18"/>
          <p:cNvSpPr txBox="1"/>
          <p:nvPr/>
        </p:nvSpPr>
        <p:spPr>
          <a:xfrm>
            <a:off x="1051560" y="2706624"/>
            <a:ext cx="4754880" cy="457200"/>
          </a:xfrm>
          <a:prstGeom prst="rect">
            <a:avLst/>
          </a:prstGeom>
          <a:noFill/>
        </p:spPr>
        <p:txBody>
          <a:bodyPr wrap="square" anchor="ctr" lIns="45720" rIns="45720">
            <a:spAutoFit/>
          </a:bodyPr>
          <a:lstStyle/>
          <a:p>
            <a:pPr algn="l"/>
            <a:r>
              <a:rPr sz="1500" b="0" i="0">
                <a:solidFill>
                  <a:srgbClr val="1A2B3C"/>
                </a:solidFill>
                <a:latin typeface="Calibri"/>
              </a:rPr>
              <a:t>RAII: the mechanism</a:t>
            </a:r>
          </a:p>
        </p:txBody>
      </p:sp>
      <p:sp>
        <p:nvSpPr>
          <p:cNvPr id="20" name="Oval 19"/>
          <p:cNvSpPr/>
          <p:nvPr/>
        </p:nvSpPr>
        <p:spPr>
          <a:xfrm>
            <a:off x="457200" y="3273552"/>
            <a:ext cx="457200" cy="457200"/>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273552"/>
            <a:ext cx="457200" cy="457200"/>
          </a:xfrm>
          <a:prstGeom prst="rect">
            <a:avLst/>
          </a:prstGeom>
          <a:noFill/>
        </p:spPr>
        <p:txBody>
          <a:bodyPr wrap="square" anchor="ctr" lIns="45720" rIns="45720">
            <a:spAutoFit/>
          </a:bodyPr>
          <a:lstStyle/>
          <a:p>
            <a:pPr algn="ctr"/>
            <a:r>
              <a:rPr sz="1600" b="1" i="0">
                <a:solidFill>
                  <a:srgbClr val="FFFFFF"/>
                </a:solidFill>
                <a:latin typeface="Calibri"/>
              </a:rPr>
              <a:t>5</a:t>
            </a:r>
          </a:p>
        </p:txBody>
      </p:sp>
      <p:sp>
        <p:nvSpPr>
          <p:cNvPr id="22" name="TextBox 21"/>
          <p:cNvSpPr txBox="1"/>
          <p:nvPr/>
        </p:nvSpPr>
        <p:spPr>
          <a:xfrm>
            <a:off x="1051560" y="3273552"/>
            <a:ext cx="4754880" cy="457200"/>
          </a:xfrm>
          <a:prstGeom prst="rect">
            <a:avLst/>
          </a:prstGeom>
          <a:noFill/>
        </p:spPr>
        <p:txBody>
          <a:bodyPr wrap="square" anchor="ctr" lIns="45720" rIns="45720">
            <a:spAutoFit/>
          </a:bodyPr>
          <a:lstStyle/>
          <a:p>
            <a:pPr algn="l"/>
            <a:r>
              <a:rPr sz="1500" b="0" i="0">
                <a:solidFill>
                  <a:srgbClr val="1A2B3C"/>
                </a:solidFill>
                <a:latin typeface="Calibri"/>
              </a:rPr>
              <a:t>Where the compendium goes deeper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Why statelessness matters for C++ services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A process that forgets everything it doesn't need to remember is a process you can kill without fear.</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Why statelessness matters for C++ services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Why statelessness matters for C++ services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problem with a service that remembers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State creeps in quietly</a:t>
            </a:r>
          </a:p>
          <a:p>
            <a:pPr algn="l">
              <a:lnSpc>
                <a:spcPct val="115000"/>
              </a:lnSpc>
            </a:pPr>
            <a:r>
              <a:rPr sz="1500" b="0" i="0">
                <a:solidFill>
                  <a:srgbClr val="1A2B3C"/>
                </a:solidFill>
                <a:latin typeface="Calibri"/>
              </a:rPr>
              <a:t>•  An in-memory cache keyed by session, filled the first time a user shows up</a:t>
            </a:r>
          </a:p>
          <a:p>
            <a:pPr algn="l">
              <a:lnSpc>
                <a:spcPct val="115000"/>
              </a:lnSpc>
            </a:pPr>
            <a:r>
              <a:rPr sz="1500" b="0" i="0">
                <a:solidFill>
                  <a:srgbClr val="1A2B3C"/>
                </a:solidFill>
                <a:latin typeface="Calibri"/>
              </a:rPr>
              <a:t>•  A counter or rate limiter that assumes it has seen every prior request</a:t>
            </a:r>
          </a:p>
          <a:p>
            <a:pPr algn="l">
              <a:lnSpc>
                <a:spcPct val="115000"/>
              </a:lnSpc>
            </a:pPr>
            <a:r>
              <a:rPr sz="1500" b="0" i="0">
                <a:solidFill>
                  <a:srgbClr val="1A2B3C"/>
                </a:solidFill>
                <a:latin typeface="Calibri"/>
              </a:rPr>
              <a:t>•  A background thread that opened a file on startup and never checks if it's still there</a:t>
            </a:r>
          </a:p>
          <a:p>
            <a:pPr algn="l">
              <a:lnSpc>
                <a:spcPct val="115000"/>
              </a:lnSpc>
            </a:pPr>
            <a:r>
              <a:rPr sz="1500" b="0" i="1">
                <a:solidFill>
                  <a:srgbClr val="90A4AE"/>
                </a:solidFill>
                <a:latin typeface="Calibri"/>
              </a:rPr>
              <a:t>None of this looks dangerous in a single-process test. Every one of these becomes a bug the moment there's more than one copy of the process, or the process restarts mid-shift.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Why statelessness matters for C++ services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Why statelessness matters for C++ services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What changes under an orchestrator</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The assumptions a dedicated box lets you get away with</a:t>
            </a:r>
          </a:p>
          <a:p>
            <a:pPr algn="l">
              <a:lnSpc>
                <a:spcPct val="115000"/>
              </a:lnSpc>
            </a:pPr>
            <a:r>
              <a:rPr sz="1500" b="0" i="0">
                <a:solidFill>
                  <a:srgbClr val="1A2B3C"/>
                </a:solidFill>
                <a:latin typeface="Calibri"/>
              </a:rPr>
              <a:t>•  Processes are disposable — the orchestrator restarts them routinely, not just on crash</a:t>
            </a:r>
          </a:p>
          <a:p>
            <a:pPr algn="l">
              <a:lnSpc>
                <a:spcPct val="115000"/>
              </a:lnSpc>
            </a:pPr>
            <a:r>
              <a:rPr sz="1500" b="0" i="0">
                <a:solidFill>
                  <a:srgbClr val="1A2B3C"/>
                </a:solidFill>
                <a:latin typeface="Calibri"/>
              </a:rPr>
              <a:t>•  Replicas come and go — scaling up or down changes which processes exist, mid-traffic</a:t>
            </a:r>
          </a:p>
          <a:p>
            <a:pPr algn="l">
              <a:lnSpc>
                <a:spcPct val="115000"/>
              </a:lnSpc>
            </a:pPr>
            <a:r>
              <a:rPr sz="1500" b="0" i="0">
                <a:solidFill>
                  <a:srgbClr val="1A2B3C"/>
                </a:solidFill>
                <a:latin typeface="Calibri"/>
              </a:rPr>
              <a:t>•  There is no "the same instance" — a load balancer has no memory of who it talked to last</a:t>
            </a:r>
          </a:p>
          <a:p>
            <a:pPr algn="l">
              <a:lnSpc>
                <a:spcPct val="115000"/>
              </a:lnSpc>
            </a:pPr>
            <a:r>
              <a:rPr sz="1500" b="0" i="1">
                <a:solidFill>
                  <a:srgbClr val="90A4AE"/>
                </a:solidFill>
                <a:latin typeface="Calibri"/>
              </a:rPr>
              <a:t>A habit that's harmless with one long-lived process becomes a correctness bug across N short-lived, interchangeable ones.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Why statelessness matters for C++ services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Why statelessness matters for C++ services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Four things worth memorizing before we go further</a:t>
            </a:r>
          </a:p>
        </p:txBody>
      </p:sp>
      <p:sp>
        <p:nvSpPr>
          <p:cNvPr id="9" name="Rectangle 8"/>
          <p:cNvSpPr/>
          <p:nvPr/>
        </p:nvSpPr>
        <p:spPr>
          <a:xfrm>
            <a:off x="457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1E6FC8"/>
                </a:solidFill>
                <a:latin typeface="Calibri"/>
              </a:rPr>
              <a:t>Any</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replica should be able to answer any request —
none of them are special</a:t>
            </a:r>
          </a:p>
        </p:txBody>
      </p:sp>
      <p:sp>
        <p:nvSpPr>
          <p:cNvPr id="12" name="Rectangle 11"/>
          <p:cNvSpPr/>
          <p:nvPr/>
        </p:nvSpPr>
        <p:spPr>
          <a:xfrm>
            <a:off x="3314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0</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coordination required between replicas before the
orchestrator kills one of them</a:t>
            </a:r>
          </a:p>
        </p:txBody>
      </p:sp>
      <p:sp>
        <p:nvSpPr>
          <p:cNvPr id="15" name="Rectangle 14"/>
          <p:cNvSpPr/>
          <p:nvPr/>
        </p:nvSpPr>
        <p:spPr>
          <a:xfrm>
            <a:off x="6172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00BCD4"/>
                </a:solidFill>
                <a:latin typeface="Calibri"/>
              </a:rPr>
              <a:t>Routine</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restarts are, under an orchestrator — not
incidents, not exceptional</a:t>
            </a:r>
          </a:p>
        </p:txBody>
      </p:sp>
      <p:sp>
        <p:nvSpPr>
          <p:cNvPr id="18" name="Rectangle 17"/>
          <p:cNvSpPr/>
          <p:nvPr/>
        </p:nvSpPr>
        <p:spPr>
          <a:xfrm>
            <a:off x="9029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9B59B6"/>
                </a:solidFill>
                <a:latin typeface="Calibri"/>
              </a:rPr>
              <a:t>1</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binary — stateless or not depends on what it
holds and where, not how it's written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§2</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Stateless deployment posture: kill, replace, replicate</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The orchestrator's three verbs, and what each one assumes about your process.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Stateless deployment posture: kill, replace, replicate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Stateless deployment posture: kill, replace, replicate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8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Kill</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The orchestrator can end your process at any time</a:t>
            </a:r>
          </a:p>
          <a:p>
            <a:pPr algn="l">
              <a:lnSpc>
                <a:spcPct val="115000"/>
              </a:lnSpc>
            </a:pPr>
            <a:r>
              <a:rPr sz="1500" b="0" i="0">
                <a:solidFill>
                  <a:srgbClr val="1A2B3C"/>
                </a:solidFill>
                <a:latin typeface="Calibri"/>
              </a:rPr>
              <a:t>•  A node needs to drain, a rolling update starts, the autoscaler decides to shrink</a:t>
            </a:r>
          </a:p>
          <a:p>
            <a:pPr algn="l">
              <a:lnSpc>
                <a:spcPct val="115000"/>
              </a:lnSpc>
            </a:pPr>
            <a:r>
              <a:rPr sz="1500" b="0" i="0">
                <a:solidFill>
                  <a:srgbClr val="1A2B3C"/>
                </a:solidFill>
                <a:latin typeface="Calibri"/>
              </a:rPr>
              <a:t>•  Your process gets a termination signal, and after a grace period, no signal at all</a:t>
            </a:r>
          </a:p>
          <a:p>
            <a:pPr algn="l">
              <a:lnSpc>
                <a:spcPct val="115000"/>
              </a:lnSpc>
            </a:pPr>
            <a:r>
              <a:rPr sz="1500" b="0" i="0">
                <a:solidFill>
                  <a:srgbClr val="1A2B3C"/>
                </a:solidFill>
                <a:latin typeface="Calibri"/>
              </a:rPr>
              <a:t>•  It does not negotiate: it does not wait for your in-flight state to be safe first</a:t>
            </a:r>
          </a:p>
          <a:p>
            <a:pPr algn="l">
              <a:lnSpc>
                <a:spcPct val="115000"/>
              </a:lnSpc>
            </a:pPr>
            <a:r>
              <a:rPr sz="1500" b="0" i="1">
                <a:solidFill>
                  <a:srgbClr val="90A4AE"/>
                </a:solidFill>
                <a:latin typeface="Calibri"/>
              </a:rPr>
              <a:t>The design requirement this creates: whatever happens, nothing authoritative can be lost when the process simply stops.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Stateless deployment posture: kill, replace, replicate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Stateless deployment posture: kill, replace, replicate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9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Replace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A new replica starts from the same image, from zero</a:t>
            </a:r>
          </a:p>
          <a:p>
            <a:pPr algn="l">
              <a:lnSpc>
                <a:spcPct val="115000"/>
              </a:lnSpc>
            </a:pPr>
            <a:r>
              <a:rPr sz="1500" b="0" i="0">
                <a:solidFill>
                  <a:srgbClr val="1A2B3C"/>
                </a:solidFill>
                <a:latin typeface="Calibri"/>
              </a:rPr>
              <a:t>•  It does not inherit anything the dead replica was holding in memory</a:t>
            </a:r>
          </a:p>
          <a:p>
            <a:pPr algn="l">
              <a:lnSpc>
                <a:spcPct val="115000"/>
              </a:lnSpc>
            </a:pPr>
            <a:r>
              <a:rPr sz="1500" b="0" i="0">
                <a:solidFill>
                  <a:srgbClr val="1A2B3C"/>
                </a:solidFill>
                <a:latin typeface="Calibri"/>
              </a:rPr>
              <a:t>•  Startup has to be fast and self-sufficient — no dependency on the old process's state</a:t>
            </a:r>
          </a:p>
          <a:p>
            <a:pPr algn="l">
              <a:lnSpc>
                <a:spcPct val="115000"/>
              </a:lnSpc>
            </a:pPr>
            <a:r>
              <a:rPr sz="1500" b="0" i="0">
                <a:solidFill>
                  <a:srgbClr val="1A2B3C"/>
                </a:solidFill>
                <a:latin typeface="Calibri"/>
              </a:rPr>
              <a:t>•  Anything the new replica needs, it has to be able to rebuild or fetch on its own</a:t>
            </a:r>
          </a:p>
          <a:p>
            <a:pPr algn="l">
              <a:lnSpc>
                <a:spcPct val="115000"/>
              </a:lnSpc>
            </a:pPr>
            <a:r>
              <a:rPr sz="1500" b="0" i="1">
                <a:solidFill>
                  <a:srgbClr val="90A4AE"/>
                </a:solidFill>
                <a:latin typeface="Calibri"/>
              </a:rPr>
              <a:t>This is where "process scope" earns its name: state it's fine to rebuild from scratch every time the process starts.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Stateless deployment posture: kill, replace, replicate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Stateless deployment posture: kill, replace, replicate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10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Replicate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Many identical copies, one traffic stream</a:t>
            </a:r>
          </a:p>
          <a:p>
            <a:pPr algn="l">
              <a:lnSpc>
                <a:spcPct val="115000"/>
              </a:lnSpc>
            </a:pPr>
            <a:r>
              <a:rPr sz="1500" b="0" i="0">
                <a:solidFill>
                  <a:srgbClr val="1A2B3C"/>
                </a:solidFill>
                <a:latin typeface="Calibri"/>
              </a:rPr>
              <a:t>•  2, 10, or 100 copies of the same process can be serving traffic at once</a:t>
            </a:r>
          </a:p>
          <a:p>
            <a:pPr algn="l">
              <a:lnSpc>
                <a:spcPct val="115000"/>
              </a:lnSpc>
            </a:pPr>
            <a:r>
              <a:rPr sz="1500" b="0" i="0">
                <a:solidFill>
                  <a:srgbClr val="1A2B3C"/>
                </a:solidFill>
                <a:latin typeface="Calibri"/>
              </a:rPr>
              <a:t>•  A load balancer routes each request to whichever replica is free</a:t>
            </a:r>
          </a:p>
          <a:p>
            <a:pPr algn="l">
              <a:lnSpc>
                <a:spcPct val="115000"/>
              </a:lnSpc>
            </a:pPr>
            <a:r>
              <a:rPr sz="1500" b="0" i="0">
                <a:solidFill>
                  <a:srgbClr val="1A2B3C"/>
                </a:solidFill>
                <a:latin typeface="Calibri"/>
              </a:rPr>
              <a:t>•  It does not try to send a user's requests back to "their" replica</a:t>
            </a:r>
          </a:p>
          <a:p>
            <a:pPr algn="l">
              <a:lnSpc>
                <a:spcPct val="115000"/>
              </a:lnSpc>
            </a:pPr>
            <a:r>
              <a:rPr sz="1500" b="0" i="1">
                <a:solidFill>
                  <a:srgbClr val="90A4AE"/>
                </a:solidFill>
                <a:latin typeface="Calibri"/>
              </a:rPr>
              <a:t>This only works if every replica is interchangeable — which is exactly what statelessness means in practice.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§3</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Three scopes, briefly</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Not all state is equal; where it lives decides whether a kill is safe.</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Three scopes, briefly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Three scopes, briefly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12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Request scope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00BCD4"/>
                </a:solidFill>
                <a:latin typeface="Calibri"/>
              </a:rPr>
              <a:t>Lives for exactly one call</a:t>
            </a:r>
          </a:p>
          <a:p>
            <a:pPr algn="l">
              <a:lnSpc>
                <a:spcPct val="115000"/>
              </a:lnSpc>
            </a:pPr>
            <a:r>
              <a:rPr sz="1500" b="0" i="0">
                <a:solidFill>
                  <a:srgbClr val="1A2B3C"/>
                </a:solidFill>
                <a:latin typeface="Calibri"/>
              </a:rPr>
              <a:t>•  Created when the handler starts, destroyed when it returns</a:t>
            </a:r>
          </a:p>
          <a:p>
            <a:pPr algn="l">
              <a:lnSpc>
                <a:spcPct val="115000"/>
              </a:lnSpc>
            </a:pPr>
            <a:r>
              <a:rPr sz="1500" b="0" i="0">
                <a:solidFill>
                  <a:srgbClr val="1A2B3C"/>
                </a:solidFill>
                <a:latin typeface="Calibri"/>
              </a:rPr>
              <a:t>•  Examples: a parsed request, a per-call buffer, a database transaction handle</a:t>
            </a:r>
          </a:p>
          <a:p>
            <a:pPr algn="l">
              <a:lnSpc>
                <a:spcPct val="115000"/>
              </a:lnSpc>
            </a:pPr>
            <a:r>
              <a:rPr sz="1500" b="0" i="0">
                <a:solidFill>
                  <a:srgbClr val="1A2B3C"/>
                </a:solidFill>
                <a:latin typeface="Calibri"/>
              </a:rPr>
              <a:t>•  Nothing here should be referenced after the response has shipped</a:t>
            </a:r>
          </a:p>
          <a:p>
            <a:pPr algn="l">
              <a:lnSpc>
                <a:spcPct val="115000"/>
              </a:lnSpc>
            </a:pPr>
            <a:r>
              <a:rPr sz="1500" b="0" i="1">
                <a:solidFill>
                  <a:srgbClr val="90A4AE"/>
                </a:solidFill>
                <a:latin typeface="Calibri"/>
              </a:rPr>
              <a:t>If a kill happens mid-request, the one thing in flight is the request itself — and the client can simply retry.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Three scopes, briefly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Three scopes, briefly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13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Process scope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Lives for as long as the process runs</a:t>
            </a:r>
          </a:p>
          <a:p>
            <a:pPr algn="l">
              <a:lnSpc>
                <a:spcPct val="115000"/>
              </a:lnSpc>
            </a:pPr>
            <a:r>
              <a:rPr sz="1500" b="0" i="0">
                <a:solidFill>
                  <a:srgbClr val="1A2B3C"/>
                </a:solidFill>
                <a:latin typeface="Calibri"/>
              </a:rPr>
              <a:t>•  Examples: a thread pool, a connection pool, parsed configuration</a:t>
            </a:r>
          </a:p>
          <a:p>
            <a:pPr algn="l">
              <a:lnSpc>
                <a:spcPct val="115000"/>
              </a:lnSpc>
            </a:pPr>
            <a:r>
              <a:rPr sz="1500" b="0" i="0">
                <a:solidFill>
                  <a:srgbClr val="1A2B3C"/>
                </a:solidFill>
                <a:latin typeface="Calibri"/>
              </a:rPr>
              <a:t>•  Safe to lose on restart, as long as it's cheaply rebuildable from scratch</a:t>
            </a:r>
          </a:p>
          <a:p>
            <a:pPr algn="l">
              <a:lnSpc>
                <a:spcPct val="115000"/>
              </a:lnSpc>
            </a:pPr>
            <a:r>
              <a:rPr sz="1500" b="0" i="0">
                <a:solidFill>
                  <a:srgbClr val="1A2B3C"/>
                </a:solidFill>
                <a:latin typeface="Calibri"/>
              </a:rPr>
              <a:t>•  Owned explicitly, typically assembled once at startup — not scattered as globals</a:t>
            </a:r>
          </a:p>
          <a:p>
            <a:pPr algn="l">
              <a:lnSpc>
                <a:spcPct val="115000"/>
              </a:lnSpc>
            </a:pPr>
            <a:r>
              <a:rPr sz="1500" b="0" i="1">
                <a:solidFill>
                  <a:srgbClr val="90A4AE"/>
                </a:solidFill>
                <a:latin typeface="Calibri"/>
              </a:rPr>
              <a:t>Losing process-scoped state costs you a restart, nothing more, provided nothing in it was authoritative.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Three scopes, briefly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Three scopes, briefly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14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External state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9B59B6"/>
                </a:solidFill>
                <a:latin typeface="Calibri"/>
              </a:rPr>
              <a:t>Lives outside the process entirely</a:t>
            </a:r>
          </a:p>
          <a:p>
            <a:pPr algn="l">
              <a:lnSpc>
                <a:spcPct val="115000"/>
              </a:lnSpc>
            </a:pPr>
            <a:r>
              <a:rPr sz="1500" b="0" i="0">
                <a:solidFill>
                  <a:srgbClr val="1A2B3C"/>
                </a:solidFill>
                <a:latin typeface="Calibri"/>
              </a:rPr>
              <a:t>•  Examples: the database, the cache tier, the message queue</a:t>
            </a:r>
          </a:p>
          <a:p>
            <a:pPr algn="l">
              <a:lnSpc>
                <a:spcPct val="115000"/>
              </a:lnSpc>
            </a:pPr>
            <a:r>
              <a:rPr sz="1500" b="0" i="0">
                <a:solidFill>
                  <a:srgbClr val="1A2B3C"/>
                </a:solidFill>
                <a:latin typeface="Calibri"/>
              </a:rPr>
              <a:t>•  The only place authoritative data is allowed to live</a:t>
            </a:r>
          </a:p>
          <a:p>
            <a:pPr algn="l">
              <a:lnSpc>
                <a:spcPct val="115000"/>
              </a:lnSpc>
            </a:pPr>
            <a:r>
              <a:rPr sz="1500" b="0" i="0">
                <a:solidFill>
                  <a:srgbClr val="1A2B3C"/>
                </a:solidFill>
                <a:latin typeface="Calibri"/>
              </a:rPr>
              <a:t>•  Reached over the network, with its own availability and consistency story</a:t>
            </a:r>
          </a:p>
          <a:p>
            <a:pPr algn="l">
              <a:lnSpc>
                <a:spcPct val="115000"/>
              </a:lnSpc>
            </a:pPr>
            <a:r>
              <a:rPr sz="1500" b="0" i="1">
                <a:solidFill>
                  <a:srgbClr val="90A4AE"/>
                </a:solidFill>
                <a:latin typeface="Calibri"/>
              </a:rPr>
              <a:t>The compendium calls this deploy-time scope and spends a full document on reaching it safely — pools, idempotency, the outbox pattern.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§4</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RAII: the mechanism</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A destructor that always runs is how C++ makes request scope a guarantee instead of a convention.</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the mechanism</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the mechanism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16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What RAII actually buys you</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Bind a resource's lifetime to an object's scope</a:t>
            </a:r>
          </a:p>
          <a:p>
            <a:pPr algn="l">
              <a:lnSpc>
                <a:spcPct val="115000"/>
              </a:lnSpc>
            </a:pPr>
            <a:r>
              <a:rPr sz="1500" b="0" i="0">
                <a:solidFill>
                  <a:srgbClr val="1A2B3C"/>
                </a:solidFill>
                <a:latin typeface="Calibri"/>
              </a:rPr>
              <a:t>•  Acquire the resource in the constructor</a:t>
            </a:r>
          </a:p>
          <a:p>
            <a:pPr algn="l">
              <a:lnSpc>
                <a:spcPct val="115000"/>
              </a:lnSpc>
            </a:pPr>
            <a:r>
              <a:rPr sz="1500" b="0" i="0">
                <a:solidFill>
                  <a:srgbClr val="1A2B3C"/>
                </a:solidFill>
                <a:latin typeface="Calibri"/>
              </a:rPr>
              <a:t>•  Release it in the destructor</a:t>
            </a:r>
          </a:p>
          <a:p>
            <a:pPr algn="l">
              <a:lnSpc>
                <a:spcPct val="115000"/>
              </a:lnSpc>
            </a:pPr>
            <a:r>
              <a:rPr sz="1500" b="0" i="0">
                <a:solidFill>
                  <a:srgbClr val="1A2B3C"/>
                </a:solidFill>
                <a:latin typeface="Calibri"/>
              </a:rPr>
              <a:t>•  The compiler calls that destructor on every exit path — return, break, or an exception</a:t>
            </a:r>
          </a:p>
          <a:p>
            <a:pPr algn="l">
              <a:lnSpc>
                <a:spcPct val="115000"/>
              </a:lnSpc>
            </a:pPr>
            <a:r>
              <a:rPr sz="1500" b="0" i="1">
                <a:solidFill>
                  <a:srgbClr val="90A4AE"/>
                </a:solidFill>
                <a:latin typeface="Calibri"/>
              </a:rPr>
              <a:t>You don't write cleanup code at each exit point. You write it once, and the language guarantees it runs.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the mechanism</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the mechanism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17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A request-scoped object, start to finish</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The shape you'll see throughout the compendium</a:t>
            </a:r>
          </a:p>
          <a:p>
            <a:pPr algn="l">
              <a:lnSpc>
                <a:spcPct val="115000"/>
              </a:lnSpc>
            </a:pPr>
            <a:r>
              <a:rPr sz="1500" b="0" i="0">
                <a:solidFill>
                  <a:srgbClr val="1A2B3C"/>
                </a:solidFill>
                <a:latin typeface="Calibri"/>
              </a:rPr>
              <a:t>•  The pooled connection is acquired once, in the constructor</a:t>
            </a:r>
          </a:p>
          <a:p>
            <a:pPr algn="l">
              <a:lnSpc>
                <a:spcPct val="115000"/>
              </a:lnSpc>
            </a:pPr>
            <a:r>
              <a:rPr sz="1500" b="0" i="0">
                <a:solidFill>
                  <a:srgbClr val="1A2B3C"/>
                </a:solidFill>
                <a:latin typeface="Calibri"/>
              </a:rPr>
              <a:t>•  Every exit from handle() destroys ctx — success, early return, or exception</a:t>
            </a:r>
          </a:p>
          <a:p>
            <a:pPr algn="l">
              <a:lnSpc>
                <a:spcPct val="115000"/>
              </a:lnSpc>
            </a:pPr>
            <a:r>
              <a:rPr sz="1500" b="0" i="0">
                <a:solidFill>
                  <a:srgbClr val="1A2B3C"/>
                </a:solidFill>
                <a:latin typeface="Calibri"/>
              </a:rPr>
              <a:t>•  The connection returns to the pool exactly once, no matter which path was taken</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ECF0F1"/>
                </a:solidFill>
                <a:latin typeface="Consolas"/>
              </a:rPr>
              <a:t>class RequestContext {</a:t>
            </a:r>
          </a:p>
          <a:p>
            <a:r>
              <a:rPr sz="1200">
                <a:solidFill>
                  <a:srgbClr val="ECF0F1"/>
                </a:solidFill>
                <a:latin typeface="Consolas"/>
              </a:rPr>
              <a:t>public:</a:t>
            </a:r>
          </a:p>
          <a:p>
            <a:r>
              <a:rPr sz="1200">
                <a:solidFill>
                  <a:srgbClr val="ECF0F1"/>
                </a:solidFill>
                <a:latin typeface="Consolas"/>
              </a:rPr>
              <a:t>    explicit RequestContext(ConnectionPool&amp; pool)</a:t>
            </a:r>
          </a:p>
          <a:p>
            <a:r>
              <a:rPr sz="1200">
                <a:solidFill>
                  <a:srgbClr val="ECF0F1"/>
                </a:solidFill>
                <a:latin typeface="Consolas"/>
              </a:rPr>
              <a:t>        : conn_(pool.acquire()) {}</a:t>
            </a:r>
          </a:p>
          <a:p>
            <a:r>
              <a:rPr sz="1200">
                <a:solidFill>
                  <a:srgbClr val="ECF0F1"/>
                </a:solidFill>
                <a:latin typeface="Consolas"/>
              </a:rPr>
              <a:t> </a:t>
            </a:r>
          </a:p>
          <a:p>
            <a:r>
              <a:rPr sz="1200">
                <a:solidFill>
                  <a:srgbClr val="ECF0F1"/>
                </a:solidFill>
                <a:latin typeface="Consolas"/>
              </a:rPr>
              <a:t>    Connection&amp; conn() { return conn_; }</a:t>
            </a:r>
          </a:p>
          <a:p>
            <a:r>
              <a:rPr sz="1200">
                <a:solidFill>
                  <a:srgbClr val="ECF0F1"/>
                </a:solidFill>
                <a:latin typeface="Consolas"/>
              </a:rPr>
              <a:t> </a:t>
            </a:r>
          </a:p>
          <a:p>
            <a:r>
              <a:rPr sz="1200">
                <a:solidFill>
                  <a:srgbClr val="ECF0F1"/>
                </a:solidFill>
                <a:latin typeface="Consolas"/>
              </a:rPr>
              <a:t>private:</a:t>
            </a:r>
          </a:p>
          <a:p>
            <a:r>
              <a:rPr sz="1200">
                <a:solidFill>
                  <a:srgbClr val="ECF0F1"/>
                </a:solidFill>
                <a:latin typeface="Consolas"/>
              </a:rPr>
              <a:t>    PooledConnection conn_;  // returns to the pool</a:t>
            </a:r>
          </a:p>
          <a:p>
            <a:r>
              <a:rPr sz="1200">
                <a:solidFill>
                  <a:srgbClr val="ECF0F1"/>
                </a:solidFill>
                <a:latin typeface="Consolas"/>
              </a:rPr>
              <a:t>                             // when this is destroyed</a:t>
            </a:r>
          </a:p>
          <a:p>
            <a:r>
              <a:rPr sz="1200">
                <a:solidFill>
                  <a:srgbClr val="ECF0F1"/>
                </a:solidFill>
                <a:latin typeface="Consolas"/>
              </a:rPr>
              <a:t>};</a:t>
            </a:r>
          </a:p>
          <a:p>
            <a:r>
              <a:rPr sz="1200">
                <a:solidFill>
                  <a:srgbClr val="ECF0F1"/>
                </a:solidFill>
                <a:latin typeface="Consolas"/>
              </a:rPr>
              <a:t> </a:t>
            </a:r>
          </a:p>
          <a:p>
            <a:r>
              <a:rPr sz="1200">
                <a:solidFill>
                  <a:srgbClr val="ECF0F1"/>
                </a:solidFill>
                <a:latin typeface="Consolas"/>
              </a:rPr>
              <a:t>void handle(ConnectionPool&amp; pool, const Request&amp; req) {</a:t>
            </a:r>
          </a:p>
          <a:p>
            <a:r>
              <a:rPr sz="1200">
                <a:solidFill>
                  <a:srgbClr val="ECF0F1"/>
                </a:solidFill>
                <a:latin typeface="Consolas"/>
              </a:rPr>
              <a:t>    RequestContext ctx(pool);</a:t>
            </a:r>
          </a:p>
          <a:p>
            <a:r>
              <a:rPr sz="1200">
                <a:solidFill>
                  <a:srgbClr val="ECF0F1"/>
                </a:solidFill>
                <a:latin typeface="Consolas"/>
              </a:rPr>
              <a:t> </a:t>
            </a:r>
          </a:p>
          <a:p>
            <a:r>
              <a:rPr sz="1200">
                <a:solidFill>
                  <a:srgbClr val="ECF0F1"/>
                </a:solidFill>
                <a:latin typeface="Consolas"/>
              </a:rPr>
              <a:t>    if (!valid(req)) return;        // ctx destructs here</a:t>
            </a:r>
          </a:p>
          <a:p>
            <a:r>
              <a:rPr sz="1200">
                <a:solidFill>
                  <a:srgbClr val="ECF0F1"/>
                </a:solidFill>
                <a:latin typeface="Consolas"/>
              </a:rPr>
              <a:t>    ctx.conn().execute(build(req));  // might throw</a:t>
            </a:r>
          </a:p>
          <a:p>
            <a:r>
              <a:rPr sz="1200">
                <a:solidFill>
                  <a:srgbClr val="ECF0F1"/>
                </a:solidFill>
                <a:latin typeface="Consolas"/>
              </a:rPr>
              <a:t> </a:t>
            </a:r>
          </a:p>
          <a:p>
            <a:r>
              <a:rPr sz="1200">
                <a:solidFill>
                  <a:srgbClr val="ECF0F1"/>
                </a:solidFill>
                <a:latin typeface="Consolas"/>
              </a:rPr>
              <a:t>}  // ... or ctx destructs here, on the normal path</a:t>
            </a:r>
          </a:p>
          <a:p>
            <a:r>
              <a:rPr sz="1200">
                <a:solidFill>
                  <a:srgbClr val="ECF0F1"/>
                </a:solidFill>
                <a:latin typeface="Consolas"/>
              </a:rPr>
              <a:t>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the mechanism</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the mechanism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18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Why this is the mechanism, not just a style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Enforceable beats aspirational</a:t>
            </a:r>
          </a:p>
          <a:p>
            <a:pPr algn="l">
              <a:lnSpc>
                <a:spcPct val="115000"/>
              </a:lnSpc>
            </a:pPr>
            <a:r>
              <a:rPr sz="1500" b="0" i="0">
                <a:solidFill>
                  <a:srgbClr val="1A2B3C"/>
                </a:solidFill>
                <a:latin typeface="Calibri"/>
              </a:rPr>
              <a:t>•  A naming convention or a code-review checklist can be skipped under deadline pressure</a:t>
            </a:r>
          </a:p>
          <a:p>
            <a:pPr algn="l">
              <a:lnSpc>
                <a:spcPct val="115000"/>
              </a:lnSpc>
            </a:pPr>
            <a:r>
              <a:rPr sz="1500" b="0" i="0">
                <a:solidFill>
                  <a:srgbClr val="1A2B3C"/>
                </a:solidFill>
                <a:latin typeface="Calibri"/>
              </a:rPr>
              <a:t>•  A destructor that the compiler calls on every path cannot be skipped</a:t>
            </a:r>
          </a:p>
          <a:p>
            <a:pPr algn="l">
              <a:lnSpc>
                <a:spcPct val="115000"/>
              </a:lnSpc>
            </a:pPr>
            <a:r>
              <a:rPr sz="1500" b="0" i="0">
                <a:solidFill>
                  <a:srgbClr val="1A2B3C"/>
                </a:solidFill>
                <a:latin typeface="Calibri"/>
              </a:rPr>
              <a:t>•  This is what makes "nothing outlives the request" a property you can rely on, not a hope</a:t>
            </a:r>
          </a:p>
          <a:p>
            <a:pPr algn="l">
              <a:lnSpc>
                <a:spcPct val="115000"/>
              </a:lnSpc>
            </a:pPr>
            <a:r>
              <a:rPr sz="1500" b="0" i="1">
                <a:solidFill>
                  <a:srgbClr val="90A4AE"/>
                </a:solidFill>
                <a:latin typeface="Calibri"/>
              </a:rPr>
              <a:t>RAII is why C++ is a good fit for stateless services, despite having no garbage collector to lean 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§5</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Where the compendium goes deeper</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This was the on-ramp. Eleven documents build the rest of the machine.</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Where the compendium goes deeper</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Where the compendium goes deeper</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20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What's next, by concept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00BCD4"/>
                </a:solidFill>
                <a:latin typeface="Calibri"/>
              </a:rPr>
              <a:t>The compendium, mapped to what we touched today</a:t>
            </a:r>
          </a:p>
          <a:p>
            <a:pPr algn="l">
              <a:lnSpc>
                <a:spcPct val="115000"/>
              </a:lnSpc>
            </a:pPr>
            <a:r>
              <a:rPr sz="1500" b="0" i="0">
                <a:solidFill>
                  <a:srgbClr val="1A2B3C"/>
                </a:solidFill>
                <a:latin typeface="Calibri"/>
              </a:rPr>
              <a:t>•  Request memory without per-request allocation — PMR arenas layered onto RAII</a:t>
            </a:r>
          </a:p>
          <a:p>
            <a:pPr algn="l">
              <a:lnSpc>
                <a:spcPct val="115000"/>
              </a:lnSpc>
            </a:pPr>
            <a:r>
              <a:rPr sz="1500" b="0" i="0">
                <a:solidFill>
                  <a:srgbClr val="1A2B3C"/>
                </a:solidFill>
                <a:latin typeface="Calibri"/>
              </a:rPr>
              <a:t>•  Process-scoped ownership done well — composition roots, dependency injection over singletons</a:t>
            </a:r>
          </a:p>
          <a:p>
            <a:pPr algn="l">
              <a:lnSpc>
                <a:spcPct val="115000"/>
              </a:lnSpc>
            </a:pPr>
            <a:r>
              <a:rPr sz="1500" b="0" i="0">
                <a:solidFill>
                  <a:srgbClr val="1A2B3C"/>
                </a:solidFill>
                <a:latin typeface="Calibri"/>
              </a:rPr>
              <a:t>•  Threading under a real CPU quota — why hardware_concurrency() lies to you in a container</a:t>
            </a:r>
          </a:p>
          <a:p>
            <a:pPr algn="l">
              <a:lnSpc>
                <a:spcPct val="115000"/>
              </a:lnSpc>
            </a:pPr>
            <a:r>
              <a:rPr sz="1500" b="0" i="0">
                <a:solidFill>
                  <a:srgbClr val="1A2B3C"/>
                </a:solidFill>
                <a:latin typeface="Calibri"/>
              </a:rPr>
              <a:t>•  Reaching external state safely — pooled connections, the outbox pattern, idempotency, deadlines</a:t>
            </a:r>
          </a:p>
          <a:p>
            <a:pPr algn="l">
              <a:lnSpc>
                <a:spcPct val="115000"/>
              </a:lnSpc>
            </a:pPr>
            <a:r>
              <a:rPr sz="1500" b="0" i="0">
                <a:solidFill>
                  <a:srgbClr val="1A2B3C"/>
                </a:solidFill>
                <a:latin typeface="Calibri"/>
              </a:rPr>
              <a:t>•  The ephemeral filesystem, health checks, graceful shutdown, and a full gRPC end-to-end example that composes all of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Where the compendium goes deeper</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Where the compendium goes deeper</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21 / 22</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If you remember one thing</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Statelessness is earned, not declared</a:t>
            </a:r>
          </a:p>
          <a:p>
            <a:pPr algn="l">
              <a:lnSpc>
                <a:spcPct val="115000"/>
              </a:lnSpc>
            </a:pPr>
            <a:r>
              <a:rPr sz="1700" b="0" i="0">
                <a:solidFill>
                  <a:srgbClr val="1A2B3C"/>
                </a:solidFill>
                <a:latin typeface="Calibri"/>
              </a:rPr>
              <a:t>It's a deployment posture: a property of where a service keeps its data, not something you can read off the source code.</a:t>
            </a:r>
          </a:p>
          <a:p>
            <a:pPr algn="l">
              <a:lnSpc>
                <a:spcPct val="115000"/>
              </a:lnSpc>
              <a:spcBef>
                <a:spcPts val="1200"/>
              </a:spcBef>
            </a:pPr>
            <a:r>
              <a:rPr sz="1700" b="0" i="0">
                <a:solidFill>
                  <a:srgbClr val="1A2B3C"/>
                </a:solidFill>
                <a:latin typeface="Calibri"/>
              </a:rPr>
              <a:t>RAII is the C++ mechanism that makes the request-scope half of that posture enforceable rather than aspirational.</a:t>
            </a:r>
          </a:p>
          <a:p>
            <a:pPr algn="l">
              <a:lnSpc>
                <a:spcPct val="115000"/>
              </a:lnSpc>
              <a:spcBef>
                <a:spcPts val="1200"/>
              </a:spcBef>
            </a:pPr>
            <a:r>
              <a:rPr sz="1700" b="0" i="0">
                <a:solidFill>
                  <a:srgbClr val="1E6FC8"/>
                </a:solidFill>
                <a:latin typeface="Calibri"/>
              </a:rPr>
              <a:t>Everything else in the compendium is about getting the other two scopes — process and external — right.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2B3C"/>
        </a:solidFill>
        <a:effectLst/>
      </p:bgPr>
    </p:bg>
    <p:spTree>
      <p:nvGrpSpPr>
        <p:cNvPr id="1" name=""/>
        <p:cNvGrpSpPr/>
        <p:nvPr/>
      </p:nvGrpSpPr>
      <p:grpSpPr/>
      <p:sp>
        <p:nvSpPr>
          <p:cNvPr id="2" name="TextBox 1"/>
          <p:cNvSpPr txBox="1"/>
          <p:nvPr/>
        </p:nvSpPr>
        <p:spPr>
          <a:xfrm>
            <a:off x="914400" y="1463040"/>
            <a:ext cx="10332720" cy="914400"/>
          </a:xfrm>
          <a:prstGeom prst="rect">
            <a:avLst/>
          </a:prstGeom>
          <a:noFill/>
        </p:spPr>
        <p:txBody>
          <a:bodyPr wrap="square" anchor="t" lIns="45720" rIns="45720">
            <a:spAutoFit/>
          </a:bodyPr>
          <a:lstStyle/>
          <a:p>
            <a:pPr algn="l"/>
            <a:r>
              <a:rPr sz="3600" b="1" i="0">
                <a:solidFill>
                  <a:srgbClr val="FFFFFF"/>
                </a:solidFill>
                <a:latin typeface="Calibri"/>
              </a:rPr>
              <a:t>Now read the compendium.</a:t>
            </a:r>
          </a:p>
        </p:txBody>
      </p:sp>
      <p:sp>
        <p:nvSpPr>
          <p:cNvPr id="3" name="TextBox 2"/>
          <p:cNvSpPr txBox="1"/>
          <p:nvPr/>
        </p:nvSpPr>
        <p:spPr>
          <a:xfrm>
            <a:off x="914400" y="2560320"/>
            <a:ext cx="10332720" cy="2377440"/>
          </a:xfrm>
          <a:prstGeom prst="rect">
            <a:avLst/>
          </a:prstGeom>
          <a:noFill/>
        </p:spPr>
        <p:txBody>
          <a:bodyPr wrap="square" anchor="t" lIns="45720" rIns="45720">
            <a:spAutoFit/>
          </a:bodyPr>
          <a:lstStyle/>
          <a:p>
            <a:pPr algn="l">
              <a:lnSpc>
                <a:spcPct val="115000"/>
              </a:lnSpc>
            </a:pPr>
            <a:r>
              <a:rPr sz="1800" b="0" i="0">
                <a:solidFill>
                  <a:srgbClr val="ECF0F1"/>
                </a:solidFill>
                <a:latin typeface="Calibri"/>
              </a:rPr>
              <a:t>Statelessness is earned by where a service keeps its data, not by how it's written.</a:t>
            </a:r>
          </a:p>
          <a:p>
            <a:pPr algn="l">
              <a:lnSpc>
                <a:spcPct val="115000"/>
              </a:lnSpc>
              <a:spcBef>
                <a:spcPts val="1000"/>
              </a:spcBef>
            </a:pPr>
            <a:r>
              <a:rPr sz="1800" b="0" i="0">
                <a:solidFill>
                  <a:srgbClr val="ECF0F1"/>
                </a:solidFill>
                <a:latin typeface="Calibri"/>
              </a:rPr>
              <a:t>RAII makes request scope enforceable. The compendium builds process scope and external state out just as far.</a:t>
            </a:r>
          </a:p>
          <a:p>
            <a:pPr algn="l">
              <a:lnSpc>
                <a:spcPct val="115000"/>
              </a:lnSpc>
              <a:spcBef>
                <a:spcPts val="1000"/>
              </a:spcBef>
            </a:pPr>
            <a:r>
              <a:rPr sz="1800" b="0" i="0">
                <a:solidFill>
                  <a:srgbClr val="27AE60"/>
                </a:solidFill>
                <a:latin typeface="Calibri"/>
              </a:rPr>
              <a:t>Eleven documents, every pattern with a runnable, host-verified Podman demo.</a:t>
            </a:r>
          </a:p>
        </p:txBody>
      </p:sp>
      <p:sp>
        <p:nvSpPr>
          <p:cNvPr id="4" name="TextBox 3"/>
          <p:cNvSpPr txBox="1"/>
          <p:nvPr/>
        </p:nvSpPr>
        <p:spPr>
          <a:xfrm>
            <a:off x="914400" y="5120640"/>
            <a:ext cx="10332720" cy="457200"/>
          </a:xfrm>
          <a:prstGeom prst="rect">
            <a:avLst/>
          </a:prstGeom>
          <a:noFill/>
        </p:spPr>
        <p:txBody>
          <a:bodyPr wrap="square" anchor="t" lIns="45720" rIns="45720">
            <a:spAutoFit/>
          </a:bodyPr>
          <a:lstStyle/>
          <a:p>
            <a:pPr algn="l"/>
            <a:r>
              <a:rPr sz="1600" b="0" i="0">
                <a:solidFill>
                  <a:srgbClr val="90A4AE"/>
                </a:solidFill>
                <a:latin typeface="Calibri"/>
              </a:rPr>
              <a:t>Read the compendium  •  run the demos  •  the source is on the repo</a:t>
            </a:r>
          </a:p>
        </p:txBody>
      </p:sp>
      <p:sp>
        <p:nvSpPr>
          <p:cNvPr id="5" name="TextBox 4"/>
          <p:cNvSpPr txBox="1"/>
          <p:nvPr/>
        </p:nvSpPr>
        <p:spPr>
          <a:xfrm>
            <a:off x="914400" y="5852160"/>
            <a:ext cx="10332720" cy="365760"/>
          </a:xfrm>
          <a:prstGeom prst="rect">
            <a:avLst/>
          </a:prstGeom>
          <a:noFill/>
        </p:spPr>
        <p:txBody>
          <a:bodyPr wrap="square" anchor="t" lIns="45720" rIns="45720">
            <a:spAutoFit/>
          </a:bodyPr>
          <a:lstStyle/>
          <a:p>
            <a:pPr algn="l"/>
            <a:r>
              <a:rPr sz="1100" b="0" i="0">
                <a:solidFill>
                  <a:srgbClr val="90A4AE"/>
                </a:solidFill>
                <a:latin typeface="Consolas"/>
              </a:rPr>
              <a:t>github.com/patterncatalyst/cpp-statelessness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