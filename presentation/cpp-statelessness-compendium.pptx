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statelessness compendium deck — the architectural companion to the performance talk. Where the main deck is about making C++ fast under container constraints, this one is about making C++ services correct as stateless workloads under an orchestrator.</a:t>
            </a:r>
          </a:p>
          <a:p>
            <a:r>
              <a:rPr sz="1200"/>
              <a:t>The spine is a single idea developed across eleven documents: statelessness is a deployment posture, not a code property, and the C++ techniques that satisfy it — RAII for request scope, PMR for request memory, explicit process-scoped ownership, externalized authoritative state, health checks and graceful shutdown — compose into one realistic gRPC service by the end.</a:t>
            </a:r>
          </a:p>
          <a:p>
            <a:r>
              <a:rPr sz="1200"/>
              <a:t>Every pattern here has a runnable Docker demo, and examples 2 through 11 are host-verified end to end on Fedora 44. We'll cue each demo at the point its pattern is introduced.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Eleven documents, three movements. Documents 1 through 3 establish the foundations — the scope vocabulary, RAII, and PMR. Documents 4 through 8 cover the operational concerns — process-scoped ownership, threading, 12-factor, state externalization, the ephemeral filesystem. Documents 9 through 11 land it — health checks and shutdown, the gRPC capstone that composes everything, and the build tooling appendix with the vendored helpers.</a:t>
            </a:r>
          </a:p>
          <a:p>
            <a:r>
              <a:rPr sz="1200"/>
              <a:t>Each section ends or pauses on a demo cue where the pattern has a runnable companion.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compendium is the architectural spine under the performance talk. The thesis here sets the vocabulary for everything that follows: statelessness isn't something you can read off a source file. The same C++ binary can be stateless or stateful depending on what state it holds and where. What makes a service 'stateless' is a property the orchestrator relies on — that it can kill, restart, and scale a replica without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numbers to frame the whole deck. Three scopes of state, and the discipline is that only deploy-time scope holds authoritative data. Zero coordination to kill a replica — that's the operational payoff. The whole compendium is runnable, not just described. And the punchline: it's one binary; statelessness is about where state lives, not how the code is written.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three-scope vocabulary is used in every later document, so it's worth fixing now. Request scope is the per-RPC lifetime — RAII makes this concrete (the RAII section). Process scope is the process lifetime — pools, channels, parsed config, owned in main() (process scope). Deploy-time scope is everything outside the process — the externalized authoritative state (state externalization).</a:t>
            </a:r>
          </a:p>
          <a:p>
            <a:r>
              <a:rPr sz="1200"/>
              <a:t>The litmus test for statelessness: if you SIGKILL a replica, is anything authoritative lost? If the answer is no, the service is stateless regardless of how much process-scoped state it holds for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of these intuitions is correct on a dedicated box and wrong under an orchestrator. The thread-pool one is the most expensive: hardware_concurrency() reports the host's core count, not the cgroup quota, so a naive pool oversubscribes and the CFS scheduler throttles it — wrecking tail latency. Demo 11 makes that gap visible. We'll return to each of these as we 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State Architecture Table is the practical heart of the process-scope section, introduced here. The exercise is mechanical and clarifying: list every piece of state your service touches, and for each one decide its scope. Anything authoritative goes to deploy-time scope. Anything that's pure performance infrastructure — pools, caches, channels — is process scope, bounded and owned in main(). Anything per-request is request scope. Get this table right and statelessness falls 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RAII is the mechanism that makes request scope concrete. If request scope is the idea, RAII is the C++ feature that enforces it: resource lifetime bound to object lifetime, cleanup guaranteed at scope exit on every path — normal return, early return, or exception.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RequestContext is the single most reused pattern in the compendium — it shows up again in the PMR doc (the arena lives in it), the threading doc (the span scope is TLS-bound to it), and the end-to-end example (the handler builds one per call). The key discipline: the destructor is the contract. You never write cleanup code in the handler body; you let scope exit run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throwing-destructor one is the killer: if a destructor throws during stack unwinding from another exception, the runtime calls terminate(). Destructors are noexcept by default in C++11 onward for exactly this reason — don't fight it. The locks-across-co_await trap is subtle and gets its own treatment in the threading doc.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These three guarantees are the vocabulary for reasoning about what happens on the throw path. RAII hands you the basic guarantee automatically — destructors run, nothing leaks, invariants survive. The strong guarantee — state rolls back as if nothing happened — is a deliberate design, usually copy-and-swap or build-the-new-state-then-commit. Nothrow is what destructors and move operations must be; mark your moves noexcept or the standard library silently falls back to copies.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RAII has no inherent cost — it's just scope-bound destruction. But the per-request object runs its constructor on every request, so what you put in it matters. A short std::string member fits in the small-string buffer and costs nothing; a std::map member allocates per node. This is where the PMR arena (next section) pays off — the per-request containers allocate from a buffer that's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Watch the destructor log line appear once per request regardless of which exit path the handler took. The point isn't that RAII is clever — it's that the cleanup is path-independent, which is exactly the property a request-scoped resource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PMR — polymorphic memory resources — is the in-language realization of 'the request brings its own memory and releases it all together.' It's request scope expressed in the allocator.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recipe is canonical: monotonic_buffer_resource for the bump-allocation, unsynchronized_pool_resource on top so differently-sized allocations don't waste the buffer. The win is the destruction asymmetry — destroying a pmr::vector built in the arena is essentially free because do_deallocate is a no-op; only the arena's own destruction reclaims memory, and that's a single pointer reset.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counterexample the doc dwells on because it's the one mistake PMR makes easy. The arena is on the stack or in the RequestContext; if you hand a pmr::string built in it back to a caller that outlives the request, you've got a use-after-free. ASan catches it on the first run — which is why the dev profile wires ASan in by default.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PMR isn't a separate container library — it's the same std:: containers with a runtime-polymorphic allocator. You pass the arena's memory_resource to the container's constructor and every allocation it makes comes from the arena. pmr::vector is the one you'll reach for most; pmr::flat_map in C++23 gives you a sorted, contiguous map that allocates rarely — ideal for the small per-request maps a handler builds.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performance argument for the arena. In a general-purpose allocator, every allocation has a matching free, and frees are not cheap — they touch free lists, coalesce, lock. In a monotonic arena, allocation is a pointer bump and individual deallocation does literally nothing; the memory comes back all at once when the arena dies. For a request that builds and tears down many small objects, that asymmetry is a real latency win on the destruction side.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Two things to watch: the timing difference between per-element free and bulk arena reclamation, and then the deliberate lifetime bug — the demo builds it, runs under ASan, and ASan prints the use-after-free with a stack trace. That's the safety net the dev profile gives you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Not all state is request-scoped. Connection pools, gRPC channels, parsed config, in-process caches — these legitimately live for the process lifetime. The discipline is to own them explicitly in main() and inject them by reference, not reach for them as singletons.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composition-root pattern (Iglberger's dependency-injection chapter is the underpinning) keeps ownership legible: you can read main() top to bottom and see the entire lifetime graph. Reverse-order destruction falls out of declaration order, so the teardown sequence is correct without any explicit shutdown code — the channels close after the services that use them, the pools after the channels, and so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recurring theme: the container's resource limits are the sizing budget for process-scoped state. An unbounded in-process cache that's fine on a 256 GB box becomes a slow OOMKill under a 512 MB memory cgroup. Everything process-scoped should be bounded and sized against the cgroup, which means reading the cgroup — the helper we ship in the build-tooling section.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composition root constructs everything and injects it by reference. No service reaches for a global; each takes its collaborators as constructor arguments. That's what makes the lifetime graph legible and the service testable — at the seam you can hand it a fake pool. And because the objects are locals in main(), they destruct in reverse construction order automatically, which is exactly the teardown order you want.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discipline that prevents the most common container OOM: every process-scoped structure that can grow must have a ceiling, and the ceiling should be derived from the cgroup memory budget. An unbounded cache doesn't fail fast — it grows until the cgroup OOMKiller reaps the process, usually under peak load, which is the worst time. Bounding by construction turns that into a predictable eviction instead.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Threading is the cross-cutting concern that interacts with statelessness in the least obvious way. The headline: under a CPU cgroup quota, hardware_concurrency() reports the host's cores, not your budget — and sizing a pool to it throttles you.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CFS — the completely fair scheduler — enforces the cgroup CPU quota by handing the cgroup a slice of microseconds per period. If your thread pool has more runnable threads than the quota allows, the kernel throttles the whole cgroup: it stops scheduling your threads until the next period. The symptom isn't lower average throughput — it's vicious p99 spikes as requests stall waiting for the next quota refill.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Thread-local storage is process-scoped but per-thread, which makes it a natural home for things like the active span — until coroutines. After a co_await, the coroutine may resume on a different thread, so anything you stashed in TLS before the suspension is gone. The fix is to capture request-scoped context into the coroutine frame. This is why the end-to-end example's RequestContext holds the span scope as a member rather than relying on TLS.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gRPC sync server is convenient but has a configuration trap: a blocking handler occupies a thread for its whole duration, so the server's thread pool size caps your concurrency. The ResourceQuota max-threads and the poller settings need to be sized from the CPU budget — too few and you serialize, too many and you throttle. The end-to-end example shows the configuration; this is the knob people miss.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cgroup-vs-host-count problem isn't only about thread pools — it reaches into the allocator. jemalloc and tcmalloc create per-CPU arenas to cut lock contention, and they size that count from the host's core count by default. Under a small CPU quota that's wasted memory. If you tune it, derive the arena count from the same cgroup reading the thread pool uses.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std::jthread and std::stop_token are the C++20 tools for clean worker lifecycle. A jthread joins automatically when it goes out of scope, so you can't accidentally leak a thread past main(); and the stop_token gives cooperative cancellation — the worker checks stop_requested() and exits its loop. The the health-and-shutdown sequence uses exactly this to drain the outbox relay and other background work.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sweep runs the same workload with progressively larger pools under a 2-core quota. Watch throughput plateau while p99 climbs — that's throttling, not contention. The cgroup-aware pool size is the knee of that curve.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twelve-factor app methodology was written for interpreted, garbage-collected services. Most factors map onto C++ cleanly; three collide with C++ idioms: Config, Processes, and Disposability.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 has a richer set of binding times than the languages 12-factor assumed, and choosing the right one is a design decision. A feature flag that never changes after deploy should be compile-time (constexpr) — free at runtime. The 12-factor 'Config' factor is specifically env-time: read once in main(), into an immutable Config struct, passed by const reference everywhere. The Config struct shows up in every service in the compendium.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Processes factor collides with the Meyers singleton — the function-local-static pattern so common in C++. It works, but it hides ownership and lifetime, which is exactly what the composition root makes explicit. Disposability is where the C++ startup tax bites: static initialization runs before main(), and a slow cold start hurts under an orchestrator that restarts replicas routinely. constinit moves what it can to compile time.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startup tax is real under orchestration: every non-trivial global runs its constructor before main(), adding to cold-start latency, and the cross-translation-unit ordering is undefined — the classic static initialization order fiasco. constinit fixes the subset that can be initialized at compile time: it's a guarantee, checked by the compiler, that there's no runtime constructor. The better fix for most state is to not make it global at all — own it in main().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remaining factors map onto a C++ service without friction. Logs to stdout is the one that bites people because of the spdlog file-default trap, which gets its own doc. Backing services as attached resources is the externalization story. Build/release/run separation is the hermetic Conan build plus the multi-stage image. The rest — port binding, concurrency, parity — are things a well-structured service does anyway.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If process scope can't hold authoritative state, it has to live outside — the database, the cache tier, the queue. This document is about reaching that external state safely: connection pools as process-scoped infrastructure, idempotency, deadline propagation, and the outbox pattern for atomic write-plus-emit.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pool is process-scoped (built in main()); the checkout is request-scoped (RAII, returned on scope exit). That pairing is the whole pattern. Idempotency is enforced at the database with a unique key and ON CONFLICT DO NOTHING, so a client retry is safe even across replicas — there's no in-process state to desync. Deadlines propagate all the way to the database via statement_timeout computed from the remaining request budget.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outbox solves the dual-write problem: you can't atomically write to the database AND publish to Kafka, so instead you write the event into the same database transaction as the business row. A separate relay then publishes it. Because the relay re-publishes after a crash (at-least-once) and the consumer applies idempotently, the end-to-end effect is exactly-once — without distributed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Deadline propagation is what keeps a slow dependency from turning into a pile-up. The request arrives with a deadline; every downstream call budgets against the same clock. The database gets a statement_timeout computed from the remaining time; the outbound gRPC call gets the same absolute deadline. If the budget is already blown, you fail fast with DEADLINE_EXCEEDED instead of starting work that can't finish in time.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Retry policy is where idempotency pays off. If an operation is idempotent — guaranteed by the client key and ON CONFLICT — a transient failure can be retried safely with backoff and jitter to avoid thundering herds. Without idempotency, a blind retry can double-apply. And every retry must respect the remaining deadline; retrying past the budget just wastes work. Broken connections get invalidated so the pool doesn't hand them out again.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closes the loop on the earlier cache counterexample. A local in-process cache of authoritative data is the classic statelessness violation: two replicas hold divergent views, and which answer you get depends on which replica you hit. The fix is to move the cache to deploy-time scope — a shared cache tier — so it's authoritative and consistent across replicas. In-process caching is only safe for data that's immutable or purely derived and cheap to rebuild.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companion uses libpq (not libpqxx — its bundled CMake breaks the toolchain), librdkafka's C API, and a single-node Strimzi Kafka. Watch the relay pick up the outbox row, publish it, and the consumer dedupe a replayed event. There's a sibling demo, 07-state-externalization, for the pool and idempotency pieces in isolation.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container filesystem is ephemeral: the writable overlay layer is discarded when the container dies. read_only: true turns that implicit truth into an enforced one, and surfaces every place your code assumed it could write.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read_only: true is a forcing function — it converts 'the filesystem is ephemeral' from a fact you might forget into an error you can't ignore. The classic C++ trap is spdlog: the convenient basic_logger_mt opens a log file, which fails with EROFS on a read-only rootfs. The fix is to log to stdout and let the platform's collector handle persistence — which is also what 12-factor's Logs factor wants. Other traps: crash dumps, ML model caches, coverage data, prometheus textfiles.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mental model is a place for every kind of write. The rootfs is read-only and holds only immutable artifacts. Scratch goes to an explicit, size-capped tmpfs at /tmp — explicit so you've thought about the size, because a tmpfs counts against memory. Anything that must survive a restart goes to a real volume, and you should be able to count those things on one hand. Config is mounted read-only; logs go to stdout.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flip side of the ephemeral-filesystem constraint is that it's a feature. Because nothing local accretes, a restart always returns you to a known-clean state — no half-written files, no disk slowly filling with logs, no drift between replicas. Rootless Docker adds a UID-mapping wrinkle for the writes you do allow, and Kubernetes lets you budget ephemeral-storage so a runaway tmpfs can't take the node down.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demo first shows the EROFS failure with the default file logger, then the same service logging cleanly to stdout. Then it writes to /tmp, restarts the container, and shows the file is gone — ephemerality as a feature, not a surprise.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Health checks are the orchestrator's API into your service — how it decides whether to route traffic, restart, or wait. Three probes, each answering a different question, plus the graceful-shutdown sequence that ties together everything we've built.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three probes are not interchangeable. Liveness failing means 'restart me' — make it narrow, because a flaky liveness probe causes restart storms. Readiness failing means 'stop sending traffic but don't kill me' — that's the one that handles transient dependency outages and graceful drain. Startup is permissive and covers the cold-start window so liveness doesn't fire during initialization.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shutdown sequence ties together stop_token from the threading doc, pool draining from the externalization doc, and reverse-order destruction from the process-scope doc. The signal-safety detail matters: a SIGTERM handler must only set a flag — it can't call into gRPC or take a lock, because almost nothing is async-signal-safe. A dedicated control thread watches the flag and does the real work.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trade-off between probe placement: same-port is simplest and the gRPC standard health service makes it trivial, but if the application thread pool saturates, the probe can't answer and you get spurious restarts. A separate, lightweight HTTP liveness endpoint keeps answering independently of app load. The 09 companion uses the hybrid: HTTP for liveness, the gRPC health service for readiness.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Health checks cause more outages than they prevent when done wrong. The cardinal sin is a liveness probe that checks downstream dependencies: a transient database blip then trips liveness on every replica simultaneously, and the orchestrator restarts your entire fleet at once — turning a blip into an outage. Liveness should check only 'is this process wedged'; dependency health belongs in readiness, which drains rather than kills.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acts: staged startup with liveness answering 200 while readiness is still NOT_SERVING during init; a SIGUSR1 toggle flipping readiness while liveness stays green; then a SIGTERM showing the ordered drain and clean exit 0. The companion uses the bool SetServingStatus overload and a signal-flag + control-thread design.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integration document. The previous nine established patterns in isolation; this one composes them into a single realistic gRPC service — an order-pricing service that calls a second tax service over gRPC — so the way the pieces fit together is visible end to end.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Twelve numbered steps in main(), every one mapping back to a prior document. The point of this example isn't new ideas — it's showing that the patterns compose without friction. The handler reads a customer and product prices from Postgres, calls the tax service over gRPC with the request deadline propagated, and returns a priced order — idempotent on the client's key.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Scope note. The compendium document presents the full design including the OpenTelemetry tracing pipeline. The runnable companion stays on the verified gRPC trio and so represents some of that design as documented seams rather than built dependencies — most importantly, it emits no spans, so nothing reaches Tempo. The composition it DOES prove is the real value: request, process, and external scope fitting together with deadline propagation and idempotency.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example's main() is twelve steps and every one maps to a prior document — config from 12-factor, CPU budget from threading, pools from externalization, the composition root from process scope, the staged health flip and signal handling from health &amp; shutdown. The shape is the same for any gRPC service in this stack; only the specific subsystems change. That reusability is the payoff of building the patterns in isolation first.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error model keeps the handler clean: helper functions throw grpc::Status for things the client should see — DEADLINE_EXCEEDED, UNAVAILABLE, NOT_FOUND — and std::exception for programming errors. One try/catch at the handler boundary translates both into the right wire status. Crucially, the try/catch is only for translation; every resource is cleaned up by RAII no matter which path the exception takes.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Act 1 prices a taxable order for alice — full path: Postgres lookups plus the outbound tax gRPC call. Act 2 prices for tax-exempt carol, where compute_tax short-circuits and never calls the tax service. Act 3 replays act 1's idempotency key and gets back the IDENTICAL order id — proof the stored result came back, not a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appendix: the build setup that everything else assumed. Conan 2.x with pinned versions and a lockfile, CMake with Ninja and Conan presets, GCC 14 for C++23 breadth, multi-stage Containerfiles — and full source for the small vendored helpers earlier docs referenced.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build-tooling choices are stable even as the toolchain landscape moves. The one gotcha worth memorizing: protobuf and gRPC versions must match across Conan dependencies, or you get duplicate-symbol linker errors. The dev/release profile split is the high-value habit — ASan and UBSan in dev catch the arena lifetime bugs, the locks-across-co_await UB, and most resource leaks before they reach production.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punchline of the whole threading story, made concrete in a 30-line helper. The demo runs the same binary under different --cpus caps; cpu_limit_cores() tracks the cap exactly — 1.5, then 0.5 — while hardware_concurrency() keeps reporting the host's 22 cores. A naive pool would oversubscribe 22-to-1 against half a core and get throttled into the ground. Read the cgroup.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Which C++23 features you can use is a function of the compiler version, and it moves fast. The ones that bite: std::flat_map isn't in libstdc++ until GCC 15, so until then absl::btree_map is the fallback; &lt;stacktrace&gt; on GCC 14 needs an explicit link flag for libstdc++_libbacktrace. The recommended baseline is GCC 14 with libstdc++ on a glibc 2.35-or-newer host, which is what every example in this tutorial builds against.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short list of traps from the real build experience of this tutorial. The protobuf/gRPC version match is the most common — two libraries pulling different protobuf versions transitively gives you duplicate-symbol linker errors. The libstdc++11 ABI setting is non-negotiable; mixing the old and new ABI produces crashes that look like memory corruption. And the libpqxx one is ours specifically: its bundled CMake breaks the toolchain, which is why every example here reaches PostgreSQL via libpq.</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Act 1 runs the gtest suite green inside the container. Then the cap sweep: unconstrained, --cpus=1.5, --cpus=0.5 --memory=256m. Watch cpu_limit_cores() report 1.5 then 0.5, memory report 256 MiB, while hardware_concurrency() stays at the host count throughout. That contrast is the entire lesson.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To close: statelessness isn't a checkbox you tick in code — it's a posture the orchestrator can rely on, and the C++ techniques in this compendium are how a C++ service earns it. Request scope through RAII and PMR, process scope owned explicitly in main(), authoritative state externalized so any replica can die without loss.</a:t>
            </a:r>
          </a:p>
          <a:p>
            <a:r>
              <a:rPr sz="1200"/>
              <a:t>And none of it is theory: every pattern has a runnable demo, and the whole arc from RAII to the gRPC capstone is host-verified. Clone the repo, run the demos, read the long-form compendium.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EE0000"/>
                </a:solidFill>
                <a:latin typeface="Red Hat Display"/>
              </a:rPr>
              <a:t>STATELESSNESS COMPENDIUM</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Red Hat Display"/>
              </a:rPr>
              <a:t>Stateless C++ Services
Under Container Orchestration</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F4F4F4"/>
                </a:solidFill>
                <a:latin typeface="Red Hat Text"/>
              </a:rPr>
              <a:t>Request / process / deploy-time scope  •  RAII  •  PMR  •  pools  •  health &amp; shutdown  •  the gRPC capstone</a:t>
            </a:r>
          </a:p>
        </p:txBody>
      </p:sp>
      <p:sp>
        <p:nvSpPr>
          <p:cNvPr id="8" name="TextBox 7"/>
          <p:cNvSpPr txBox="1"/>
          <p:nvPr/>
        </p:nvSpPr>
        <p:spPr>
          <a:xfrm>
            <a:off x="914400" y="4754880"/>
            <a:ext cx="10332720" cy="365760"/>
          </a:xfrm>
          <a:prstGeom prst="rect">
            <a:avLst/>
          </a:prstGeom>
          <a:noFill/>
        </p:spPr>
        <p:txBody>
          <a:bodyPr wrap="square" anchor="t" lIns="45720" rIns="45720">
            <a:spAutoFit/>
          </a:bodyPr>
          <a:lstStyle/>
          <a:p>
            <a:pPr algn="l"/>
            <a:r>
              <a:rPr sz="1400" b="0" i="1">
                <a:solidFill>
                  <a:srgbClr val="8A8A8A"/>
                </a:solidFill>
                <a:latin typeface="Red Hat Text"/>
              </a:rPr>
              <a:t>Companion deck to “Optimizing Modern C++ with Containers”  —  Docs 01–11</a:t>
            </a:r>
          </a:p>
        </p:txBody>
      </p:sp>
      <p:sp>
        <p:nvSpPr>
          <p:cNvPr id="9" name="TextBox 8"/>
          <p:cNvSpPr txBox="1"/>
          <p:nvPr/>
        </p:nvSpPr>
        <p:spPr>
          <a:xfrm>
            <a:off x="914400" y="5394960"/>
            <a:ext cx="10332720" cy="365760"/>
          </a:xfrm>
          <a:prstGeom prst="rect">
            <a:avLst/>
          </a:prstGeom>
          <a:noFill/>
        </p:spPr>
        <p:txBody>
          <a:bodyPr wrap="square" anchor="t" lIns="45720" rIns="45720">
            <a:spAutoFit/>
          </a:bodyPr>
          <a:lstStyle/>
          <a:p>
            <a:pPr algn="l"/>
            <a:r>
              <a:rPr sz="1400" b="0" i="0">
                <a:solidFill>
                  <a:srgbClr val="EE0000"/>
                </a:solidFill>
                <a:latin typeface="Red Hat Text"/>
              </a:rPr>
              <a:t>Every pattern has a runnable Docker demo  —  02–11 host-verified</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github.com/patterncatalyst/cpp-statelessness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Agenda — the eleven documents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 / 67</a:t>
            </a:r>
          </a:p>
        </p:txBody>
      </p:sp>
      <p:sp>
        <p:nvSpPr>
          <p:cNvPr id="8" name="Oval 7"/>
          <p:cNvSpPr/>
          <p:nvPr/>
        </p:nvSpPr>
        <p:spPr>
          <a:xfrm>
            <a:off x="45720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500" b="0" i="0">
                <a:solidFill>
                  <a:srgbClr val="151515"/>
                </a:solidFill>
                <a:latin typeface="Red Hat Text"/>
              </a:rPr>
              <a:t>Statelessness as deployment posture</a:t>
            </a:r>
          </a:p>
        </p:txBody>
      </p:sp>
      <p:sp>
        <p:nvSpPr>
          <p:cNvPr id="11" name="Oval 10"/>
          <p:cNvSpPr/>
          <p:nvPr/>
        </p:nvSpPr>
        <p:spPr>
          <a:xfrm>
            <a:off x="457200" y="157276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2</a:t>
            </a:r>
          </a:p>
        </p:txBody>
      </p:sp>
      <p:sp>
        <p:nvSpPr>
          <p:cNvPr id="13" name="TextBox 12"/>
          <p:cNvSpPr txBox="1"/>
          <p:nvPr/>
        </p:nvSpPr>
        <p:spPr>
          <a:xfrm>
            <a:off x="1051560" y="1572768"/>
            <a:ext cx="4754880" cy="457200"/>
          </a:xfrm>
          <a:prstGeom prst="rect">
            <a:avLst/>
          </a:prstGeom>
          <a:noFill/>
        </p:spPr>
        <p:txBody>
          <a:bodyPr wrap="square" anchor="ctr" lIns="45720" rIns="45720">
            <a:spAutoFit/>
          </a:bodyPr>
          <a:lstStyle/>
          <a:p>
            <a:pPr algn="l"/>
            <a:r>
              <a:rPr sz="1500" b="0" i="0">
                <a:solidFill>
                  <a:srgbClr val="151515"/>
                </a:solidFill>
                <a:latin typeface="Red Hat Text"/>
              </a:rPr>
              <a:t>RAII as the foundation</a:t>
            </a:r>
          </a:p>
        </p:txBody>
      </p:sp>
      <p:sp>
        <p:nvSpPr>
          <p:cNvPr id="14" name="Oval 13"/>
          <p:cNvSpPr/>
          <p:nvPr/>
        </p:nvSpPr>
        <p:spPr>
          <a:xfrm>
            <a:off x="457200" y="2139696"/>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3</a:t>
            </a:r>
          </a:p>
        </p:txBody>
      </p:sp>
      <p:sp>
        <p:nvSpPr>
          <p:cNvPr id="16" name="TextBox 15"/>
          <p:cNvSpPr txBox="1"/>
          <p:nvPr/>
        </p:nvSpPr>
        <p:spPr>
          <a:xfrm>
            <a:off x="1051560" y="2139696"/>
            <a:ext cx="4754880" cy="457200"/>
          </a:xfrm>
          <a:prstGeom prst="rect">
            <a:avLst/>
          </a:prstGeom>
          <a:noFill/>
        </p:spPr>
        <p:txBody>
          <a:bodyPr wrap="square" anchor="ctr" lIns="45720" rIns="45720">
            <a:spAutoFit/>
          </a:bodyPr>
          <a:lstStyle/>
          <a:p>
            <a:pPr algn="l"/>
            <a:r>
              <a:rPr sz="1500" b="0" i="0">
                <a:solidFill>
                  <a:srgbClr val="151515"/>
                </a:solidFill>
                <a:latin typeface="Red Hat Text"/>
              </a:rPr>
              <a:t>PMR: request brings its own memory</a:t>
            </a:r>
          </a:p>
        </p:txBody>
      </p:sp>
      <p:sp>
        <p:nvSpPr>
          <p:cNvPr id="17" name="Oval 16"/>
          <p:cNvSpPr/>
          <p:nvPr/>
        </p:nvSpPr>
        <p:spPr>
          <a:xfrm>
            <a:off x="457200" y="2706624"/>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4</a:t>
            </a:r>
          </a:p>
        </p:txBody>
      </p:sp>
      <p:sp>
        <p:nvSpPr>
          <p:cNvPr id="19" name="TextBox 18"/>
          <p:cNvSpPr txBox="1"/>
          <p:nvPr/>
        </p:nvSpPr>
        <p:spPr>
          <a:xfrm>
            <a:off x="1051560" y="2706624"/>
            <a:ext cx="4754880" cy="457200"/>
          </a:xfrm>
          <a:prstGeom prst="rect">
            <a:avLst/>
          </a:prstGeom>
          <a:noFill/>
        </p:spPr>
        <p:txBody>
          <a:bodyPr wrap="square" anchor="ctr" lIns="45720" rIns="45720">
            <a:spAutoFit/>
          </a:bodyPr>
          <a:lstStyle/>
          <a:p>
            <a:pPr algn="l"/>
            <a:r>
              <a:rPr sz="1500" b="0" i="0">
                <a:solidFill>
                  <a:srgbClr val="151515"/>
                </a:solidFill>
                <a:latin typeface="Red Hat Text"/>
              </a:rPr>
              <a:t>Process-scoped state, owned in main()</a:t>
            </a:r>
          </a:p>
        </p:txBody>
      </p:sp>
      <p:sp>
        <p:nvSpPr>
          <p:cNvPr id="20" name="Oval 19"/>
          <p:cNvSpPr/>
          <p:nvPr/>
        </p:nvSpPr>
        <p:spPr>
          <a:xfrm>
            <a:off x="457200" y="3273552"/>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5</a:t>
            </a:r>
          </a:p>
        </p:txBody>
      </p:sp>
      <p:sp>
        <p:nvSpPr>
          <p:cNvPr id="22" name="TextBox 21"/>
          <p:cNvSpPr txBox="1"/>
          <p:nvPr/>
        </p:nvSpPr>
        <p:spPr>
          <a:xfrm>
            <a:off x="1051560" y="3273552"/>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Threading under a CPU quota</a:t>
            </a:r>
          </a:p>
        </p:txBody>
      </p:sp>
      <p:sp>
        <p:nvSpPr>
          <p:cNvPr id="23" name="Oval 22"/>
          <p:cNvSpPr/>
          <p:nvPr/>
        </p:nvSpPr>
        <p:spPr>
          <a:xfrm>
            <a:off x="457200" y="3840480"/>
            <a:ext cx="457200" cy="457200"/>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8404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6</a:t>
            </a:r>
          </a:p>
        </p:txBody>
      </p:sp>
      <p:sp>
        <p:nvSpPr>
          <p:cNvPr id="25" name="TextBox 24"/>
          <p:cNvSpPr txBox="1"/>
          <p:nvPr/>
        </p:nvSpPr>
        <p:spPr>
          <a:xfrm>
            <a:off x="1051560" y="3840480"/>
            <a:ext cx="4754880" cy="457200"/>
          </a:xfrm>
          <a:prstGeom prst="rect">
            <a:avLst/>
          </a:prstGeom>
          <a:noFill/>
        </p:spPr>
        <p:txBody>
          <a:bodyPr wrap="square" anchor="ctr" lIns="45720" rIns="45720">
            <a:spAutoFit/>
          </a:bodyPr>
          <a:lstStyle/>
          <a:p>
            <a:pPr algn="l"/>
            <a:r>
              <a:rPr sz="1500" b="0" i="0">
                <a:solidFill>
                  <a:srgbClr val="151515"/>
                </a:solidFill>
                <a:latin typeface="Red Hat Text"/>
              </a:rPr>
              <a:t>12-Factor adapted to C++</a:t>
            </a:r>
          </a:p>
        </p:txBody>
      </p:sp>
      <p:sp>
        <p:nvSpPr>
          <p:cNvPr id="26" name="Oval 25"/>
          <p:cNvSpPr/>
          <p:nvPr/>
        </p:nvSpPr>
        <p:spPr>
          <a:xfrm>
            <a:off x="621792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7</a:t>
            </a:r>
          </a:p>
        </p:txBody>
      </p:sp>
      <p:sp>
        <p:nvSpPr>
          <p:cNvPr id="28" name="TextBox 27"/>
          <p:cNvSpPr txBox="1"/>
          <p:nvPr/>
        </p:nvSpPr>
        <p:spPr>
          <a:xfrm>
            <a:off x="6812280" y="1005840"/>
            <a:ext cx="4754880" cy="457200"/>
          </a:xfrm>
          <a:prstGeom prst="rect">
            <a:avLst/>
          </a:prstGeom>
          <a:noFill/>
        </p:spPr>
        <p:txBody>
          <a:bodyPr wrap="square" anchor="ctr" lIns="45720" rIns="45720">
            <a:spAutoFit/>
          </a:bodyPr>
          <a:lstStyle/>
          <a:p>
            <a:pPr algn="l"/>
            <a:r>
              <a:rPr sz="1500" b="0" i="0">
                <a:solidFill>
                  <a:srgbClr val="151515"/>
                </a:solidFill>
                <a:latin typeface="Red Hat Text"/>
              </a:rPr>
              <a:t>State externalization</a:t>
            </a:r>
          </a:p>
        </p:txBody>
      </p:sp>
      <p:sp>
        <p:nvSpPr>
          <p:cNvPr id="29" name="Oval 28"/>
          <p:cNvSpPr/>
          <p:nvPr/>
        </p:nvSpPr>
        <p:spPr>
          <a:xfrm>
            <a:off x="6217920" y="157276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8</a:t>
            </a:r>
          </a:p>
        </p:txBody>
      </p:sp>
      <p:sp>
        <p:nvSpPr>
          <p:cNvPr id="31" name="TextBox 30"/>
          <p:cNvSpPr txBox="1"/>
          <p:nvPr/>
        </p:nvSpPr>
        <p:spPr>
          <a:xfrm>
            <a:off x="6812280" y="1572768"/>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The ephemeral filesystem</a:t>
            </a:r>
          </a:p>
        </p:txBody>
      </p:sp>
      <p:sp>
        <p:nvSpPr>
          <p:cNvPr id="32" name="Oval 31"/>
          <p:cNvSpPr/>
          <p:nvPr/>
        </p:nvSpPr>
        <p:spPr>
          <a:xfrm>
            <a:off x="6217920" y="2139696"/>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9</a:t>
            </a:r>
          </a:p>
        </p:txBody>
      </p:sp>
      <p:sp>
        <p:nvSpPr>
          <p:cNvPr id="34" name="TextBox 33"/>
          <p:cNvSpPr txBox="1"/>
          <p:nvPr/>
        </p:nvSpPr>
        <p:spPr>
          <a:xfrm>
            <a:off x="6812280" y="2139696"/>
            <a:ext cx="4754880" cy="457200"/>
          </a:xfrm>
          <a:prstGeom prst="rect">
            <a:avLst/>
          </a:prstGeom>
          <a:noFill/>
        </p:spPr>
        <p:txBody>
          <a:bodyPr wrap="square" anchor="ctr" lIns="45720" rIns="45720">
            <a:spAutoFit/>
          </a:bodyPr>
          <a:lstStyle/>
          <a:p>
            <a:pPr algn="l"/>
            <a:r>
              <a:rPr sz="1500" b="0" i="0">
                <a:solidFill>
                  <a:srgbClr val="151515"/>
                </a:solidFill>
                <a:latin typeface="Red Hat Text"/>
              </a:rPr>
              <a:t>Health checks &amp; graceful shutdown</a:t>
            </a:r>
          </a:p>
        </p:txBody>
      </p:sp>
      <p:sp>
        <p:nvSpPr>
          <p:cNvPr id="35" name="Oval 34"/>
          <p:cNvSpPr/>
          <p:nvPr/>
        </p:nvSpPr>
        <p:spPr>
          <a:xfrm>
            <a:off x="6217920" y="2706624"/>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10</a:t>
            </a:r>
          </a:p>
        </p:txBody>
      </p:sp>
      <p:sp>
        <p:nvSpPr>
          <p:cNvPr id="37" name="TextBox 36"/>
          <p:cNvSpPr txBox="1"/>
          <p:nvPr/>
        </p:nvSpPr>
        <p:spPr>
          <a:xfrm>
            <a:off x="6812280" y="2706624"/>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The gRPC end-to-end example</a:t>
            </a:r>
          </a:p>
        </p:txBody>
      </p:sp>
      <p:sp>
        <p:nvSpPr>
          <p:cNvPr id="38" name="Oval 37"/>
          <p:cNvSpPr/>
          <p:nvPr/>
        </p:nvSpPr>
        <p:spPr>
          <a:xfrm>
            <a:off x="6217920" y="3273552"/>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11</a:t>
            </a:r>
          </a:p>
        </p:txBody>
      </p:sp>
      <p:sp>
        <p:nvSpPr>
          <p:cNvPr id="40" name="TextBox 39"/>
          <p:cNvSpPr txBox="1"/>
          <p:nvPr/>
        </p:nvSpPr>
        <p:spPr>
          <a:xfrm>
            <a:off x="6812280" y="3273552"/>
            <a:ext cx="4754880" cy="457200"/>
          </a:xfrm>
          <a:prstGeom prst="rect">
            <a:avLst/>
          </a:prstGeom>
          <a:noFill/>
        </p:spPr>
        <p:txBody>
          <a:bodyPr wrap="square" anchor="ctr" lIns="45720" rIns="45720">
            <a:spAutoFit/>
          </a:bodyPr>
          <a:lstStyle/>
          <a:p>
            <a:pPr algn="l"/>
            <a:r>
              <a:rPr sz="1500" b="0" i="0">
                <a:solidFill>
                  <a:srgbClr val="151515"/>
                </a:solidFill>
                <a:latin typeface="Red Hat Text"/>
              </a:rPr>
              <a:t>Build tooling &amp; vendored helpers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Statelessness as deployment posture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Statelessness is not a code property — it's what the orchestrator can assume.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Why statelessness is the property everything depends on</a:t>
            </a:r>
          </a:p>
        </p:txBody>
      </p:sp>
      <p:sp>
        <p:nvSpPr>
          <p:cNvPr id="9" name="Rectangle 8"/>
          <p:cNvSpPr/>
          <p:nvPr/>
        </p:nvSpPr>
        <p:spPr>
          <a:xfrm>
            <a:off x="457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1E6FC8"/>
                </a:solidFill>
                <a:latin typeface="Red Hat Display"/>
              </a:rPr>
              <a:t>3</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scopes of state — request, process, deploy-time —
and only one of them may hold authoritative data</a:t>
            </a:r>
          </a:p>
        </p:txBody>
      </p:sp>
      <p:sp>
        <p:nvSpPr>
          <p:cNvPr id="12" name="Rectangle 11"/>
          <p:cNvSpPr/>
          <p:nvPr/>
        </p:nvSpPr>
        <p:spPr>
          <a:xfrm>
            <a:off x="3314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27AE60"/>
                </a:solidFill>
                <a:latin typeface="Red Hat Display"/>
              </a:rPr>
              <a:t>0</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coordination needed to kill or restart a replica
when nothing authoritative lives in-process</a:t>
            </a:r>
          </a:p>
        </p:txBody>
      </p:sp>
      <p:sp>
        <p:nvSpPr>
          <p:cNvPr id="15" name="Rectangle 14"/>
          <p:cNvSpPr/>
          <p:nvPr/>
        </p:nvSpPr>
        <p:spPr>
          <a:xfrm>
            <a:off x="6172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00BCD4"/>
                </a:solidFill>
                <a:latin typeface="Red Hat Display"/>
              </a:rPr>
              <a:t>02–11</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compendium examples, each a runnable Docker
demo, host-verified end to end on Fedora 44</a:t>
            </a:r>
          </a:p>
        </p:txBody>
      </p:sp>
      <p:sp>
        <p:nvSpPr>
          <p:cNvPr id="18" name="Rectangle 17"/>
          <p:cNvSpPr/>
          <p:nvPr/>
        </p:nvSpPr>
        <p:spPr>
          <a:xfrm>
            <a:off x="9029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9B59B6"/>
                </a:solidFill>
                <a:latin typeface="Red Hat Display"/>
              </a:rPr>
              <a:t>1</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binary — stateless or stateful depending only on
where it keeps state, not on its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Three scopes of state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The same binary, three kinds of state</a:t>
            </a:r>
          </a:p>
          <a:p>
            <a:pPr algn="l">
              <a:lnSpc>
                <a:spcPct val="115000"/>
              </a:lnSpc>
            </a:pPr>
            <a:r>
              <a:rPr sz="1500" b="0" i="0">
                <a:solidFill>
                  <a:srgbClr val="1A2B3C"/>
                </a:solidFill>
                <a:latin typeface="Red Hat Text"/>
              </a:rPr>
              <a:t>•  Request scope — lives for one RPC; born and dies inside the handler</a:t>
            </a:r>
          </a:p>
          <a:p>
            <a:pPr algn="l">
              <a:lnSpc>
                <a:spcPct val="115000"/>
              </a:lnSpc>
            </a:pPr>
            <a:r>
              <a:rPr sz="1500" b="0" i="0">
                <a:solidFill>
                  <a:srgbClr val="1A2B3C"/>
                </a:solidFill>
                <a:latin typeface="Red Hat Text"/>
              </a:rPr>
              <a:t>•  Process scope — lives for the process; pools, caches, channels, config</a:t>
            </a:r>
          </a:p>
          <a:p>
            <a:pPr algn="l">
              <a:lnSpc>
                <a:spcPct val="115000"/>
              </a:lnSpc>
            </a:pPr>
            <a:r>
              <a:rPr sz="1500" b="0" i="0">
                <a:solidFill>
                  <a:srgbClr val="1A2B3C"/>
                </a:solidFill>
                <a:latin typeface="Red Hat Text"/>
              </a:rPr>
              <a:t>•  Deploy-time scope — lives outside the process; the database, the queue, the cache tier</a:t>
            </a:r>
          </a:p>
          <a:p>
            <a:pPr algn="l">
              <a:lnSpc>
                <a:spcPct val="115000"/>
              </a:lnSpc>
            </a:pPr>
            <a:r>
              <a:rPr sz="1500" b="0" i="1">
                <a:solidFill>
                  <a:srgbClr val="90A4AE"/>
                </a:solidFill>
                <a:latin typeface="Red Hat Text"/>
              </a:rPr>
              <a:t>Statelessness means: nothing the orchestrator can't recreate lives in process scope. Kill a replica and nothing authoritative is lost.</a:t>
            </a:r>
          </a:p>
        </p:txBody>
      </p:sp>
      <p:pic>
        <p:nvPicPr>
          <p:cNvPr id="10" name="Picture 9" descr="01-deployment-posture.jpg"/>
          <p:cNvPicPr>
            <a:picLocks noChangeAspect="1"/>
          </p:cNvPicPr>
          <p:nvPr/>
        </p:nvPicPr>
        <p:blipFill>
          <a:blip r:embed="rId2"/>
          <a:stretch>
            <a:fillRect/>
          </a:stretch>
        </p:blipFill>
        <p:spPr>
          <a:xfrm>
            <a:off x="6217920" y="1554480"/>
            <a:ext cx="5486400" cy="298803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Six monolith intuitions that mislead</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What bare-metal habits get wrong under containers</a:t>
            </a:r>
          </a:p>
          <a:p>
            <a:pPr algn="l">
              <a:lnSpc>
                <a:spcPct val="115000"/>
              </a:lnSpc>
            </a:pPr>
            <a:r>
              <a:rPr sz="1500" b="0" i="0">
                <a:solidFill>
                  <a:srgbClr val="1A2B3C"/>
                </a:solidFill>
                <a:latin typeface="Red Hat Text"/>
              </a:rPr>
              <a:t>•  "The box has N cores" — the cgroup quota does not equal nproc</a:t>
            </a:r>
          </a:p>
          <a:p>
            <a:pPr algn="l">
              <a:lnSpc>
                <a:spcPct val="115000"/>
              </a:lnSpc>
            </a:pPr>
            <a:r>
              <a:rPr sz="1500" b="0" i="0">
                <a:solidFill>
                  <a:srgbClr val="1A2B3C"/>
                </a:solidFill>
                <a:latin typeface="Red Hat Text"/>
              </a:rPr>
              <a:t>•  "Memory is the machine's RAM" — memory.max is the real ceiling</a:t>
            </a:r>
          </a:p>
          <a:p>
            <a:pPr algn="l">
              <a:lnSpc>
                <a:spcPct val="115000"/>
              </a:lnSpc>
            </a:pPr>
            <a:r>
              <a:rPr sz="1500" b="0" i="0">
                <a:solidFill>
                  <a:srgbClr val="1A2B3C"/>
                </a:solidFill>
                <a:latin typeface="Red Hat Text"/>
              </a:rPr>
              <a:t>•  "The filesystem persists" — the rootfs is ephemeral (ephemeral filesystem)</a:t>
            </a:r>
          </a:p>
          <a:p>
            <a:pPr algn="l">
              <a:lnSpc>
                <a:spcPct val="115000"/>
              </a:lnSpc>
            </a:pPr>
            <a:r>
              <a:rPr sz="1500" b="0" i="0">
                <a:solidFill>
                  <a:srgbClr val="1A2B3C"/>
                </a:solidFill>
                <a:latin typeface="Red Hat Text"/>
              </a:rPr>
              <a:t>•  "My thread pool should match the CPU count" — it should match the cgroup (threading)</a:t>
            </a:r>
          </a:p>
          <a:p>
            <a:pPr algn="l">
              <a:lnSpc>
                <a:spcPct val="115000"/>
              </a:lnSpc>
            </a:pPr>
            <a:r>
              <a:rPr sz="1500" b="0" i="0">
                <a:solidFill>
                  <a:srgbClr val="1A2B3C"/>
                </a:solidFill>
                <a:latin typeface="Red Hat Text"/>
              </a:rPr>
              <a:t>•  "Local cache is free" — it desyncs across replicas (state externalization)</a:t>
            </a:r>
          </a:p>
          <a:p>
            <a:pPr algn="l">
              <a:lnSpc>
                <a:spcPct val="115000"/>
              </a:lnSpc>
            </a:pPr>
            <a:r>
              <a:rPr sz="1500" b="0" i="0">
                <a:solidFill>
                  <a:srgbClr val="1A2B3C"/>
                </a:solidFill>
                <a:latin typeface="Red Hat Text"/>
              </a:rPr>
              <a:t>•  "Restart is exceptional" — under orchestration it's routine (health &amp; shutdown)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State Architecture Table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Decide, per piece of state, where it lives</a:t>
            </a:r>
          </a:p>
          <a:p>
            <a:pPr algn="l">
              <a:lnSpc>
                <a:spcPct val="115000"/>
              </a:lnSpc>
            </a:pPr>
            <a:r>
              <a:rPr sz="1500" b="0" i="0">
                <a:solidFill>
                  <a:srgbClr val="1A2B3C"/>
                </a:solidFill>
                <a:latin typeface="Red Hat Text"/>
              </a:rPr>
              <a:t>•  Session / auth context → externalized (cache tier), never in-process</a:t>
            </a:r>
          </a:p>
          <a:p>
            <a:pPr algn="l">
              <a:lnSpc>
                <a:spcPct val="115000"/>
              </a:lnSpc>
            </a:pPr>
            <a:r>
              <a:rPr sz="1500" b="0" i="0">
                <a:solidFill>
                  <a:srgbClr val="1A2B3C"/>
                </a:solidFill>
                <a:latin typeface="Red Hat Text"/>
              </a:rPr>
              <a:t>•  Counters, sequences → the database, atomic; not a process-local int</a:t>
            </a:r>
          </a:p>
          <a:p>
            <a:pPr algn="l">
              <a:lnSpc>
                <a:spcPct val="115000"/>
              </a:lnSpc>
            </a:pPr>
            <a:r>
              <a:rPr sz="1500" b="0" i="0">
                <a:solidFill>
                  <a:srgbClr val="1A2B3C"/>
                </a:solidFill>
                <a:latin typeface="Red Hat Text"/>
              </a:rPr>
              <a:t>•  Durable workflow → the database or a workflow engine</a:t>
            </a:r>
          </a:p>
          <a:p>
            <a:pPr algn="l">
              <a:lnSpc>
                <a:spcPct val="115000"/>
              </a:lnSpc>
            </a:pPr>
            <a:r>
              <a:rPr sz="1500" b="0" i="0">
                <a:solidFill>
                  <a:srgbClr val="1A2B3C"/>
                </a:solidFill>
                <a:latin typeface="Red Hat Text"/>
              </a:rPr>
              <a:t>•  Connection pools, channels, parsed config → process scope, owned in main()</a:t>
            </a:r>
          </a:p>
          <a:p>
            <a:pPr algn="l">
              <a:lnSpc>
                <a:spcPct val="115000"/>
              </a:lnSpc>
            </a:pPr>
            <a:r>
              <a:rPr sz="1500" b="0" i="0">
                <a:solidFill>
                  <a:srgbClr val="1A2B3C"/>
                </a:solidFill>
                <a:latin typeface="Red Hat Text"/>
              </a:rPr>
              <a:t>•  Per-request scratch → request scope, the PMR arena</a:t>
            </a:r>
          </a:p>
          <a:p>
            <a:pPr algn="l">
              <a:lnSpc>
                <a:spcPct val="115000"/>
              </a:lnSpc>
            </a:pPr>
            <a:r>
              <a:rPr sz="1500" b="0" i="1">
                <a:solidFill>
                  <a:srgbClr val="90A4AE"/>
                </a:solidFill>
                <a:latin typeface="Red Hat Text"/>
              </a:rPr>
              <a:t>The table is the design exercise: enumerate every piece of state and assign it a scope.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RAII as the foundation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Bind resource lifetime to scope; the destructor is the contract.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RequestContext pattern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One RAII type bundles per-request state</a:t>
            </a:r>
          </a:p>
          <a:p>
            <a:pPr algn="l">
              <a:lnSpc>
                <a:spcPct val="115000"/>
              </a:lnSpc>
            </a:pPr>
            <a:r>
              <a:rPr sz="1500" b="0" i="0">
                <a:solidFill>
                  <a:srgbClr val="1A2B3C"/>
                </a:solidFill>
                <a:latin typeface="Red Hat Text"/>
              </a:rPr>
              <a:t>•  Constructed at the top of the handler; destroyed on return</a:t>
            </a:r>
          </a:p>
          <a:p>
            <a:pPr algn="l">
              <a:lnSpc>
                <a:spcPct val="115000"/>
              </a:lnSpc>
            </a:pPr>
            <a:r>
              <a:rPr sz="1500" b="0" i="0">
                <a:solidFill>
                  <a:srgbClr val="1A2B3C"/>
                </a:solidFill>
                <a:latin typeface="Red Hat Text"/>
              </a:rPr>
              <a:t>•  Bundles the deadline, correlation id, a per-request arena, the span scope</a:t>
            </a:r>
          </a:p>
          <a:p>
            <a:pPr algn="l">
              <a:lnSpc>
                <a:spcPct val="115000"/>
              </a:lnSpc>
            </a:pPr>
            <a:r>
              <a:rPr sz="1500" b="0" i="0">
                <a:solidFill>
                  <a:srgbClr val="1A2B3C"/>
                </a:solidFill>
                <a:latin typeface="Red Hat Text"/>
              </a:rPr>
              <a:t>•  Members destruct in reverse declaration order — cleanup ordering built in</a:t>
            </a:r>
          </a:p>
          <a:p>
            <a:pPr algn="l">
              <a:lnSpc>
                <a:spcPct val="115000"/>
              </a:lnSpc>
            </a:pPr>
            <a:r>
              <a:rPr sz="1500" b="0" i="0">
                <a:solidFill>
                  <a:srgbClr val="1A2B3C"/>
                </a:solidFill>
                <a:latin typeface="Red Hat Text"/>
              </a:rPr>
              <a:t>•  The three exception-safety guarantees: basic, strong, nothrow</a:t>
            </a:r>
          </a:p>
          <a:p>
            <a:pPr algn="l">
              <a:lnSpc>
                <a:spcPct val="115000"/>
              </a:lnSpc>
            </a:pPr>
            <a:r>
              <a:rPr sz="1500" b="0" i="1">
                <a:solidFill>
                  <a:srgbClr val="90A4AE"/>
                </a:solidFill>
                <a:latin typeface="Red Hat Text"/>
              </a:rPr>
              <a:t>All cleanup is RAII; the handler's try/catch is for error-to-status translation, not resource management.</a:t>
            </a:r>
          </a:p>
        </p:txBody>
      </p:sp>
      <p:pic>
        <p:nvPicPr>
          <p:cNvPr id="10" name="Picture 9" descr="02-raii.jpg"/>
          <p:cNvPicPr>
            <a:picLocks noChangeAspect="1"/>
          </p:cNvPicPr>
          <p:nvPr/>
        </p:nvPicPr>
        <p:blipFill>
          <a:blip r:embed="rId2"/>
          <a:stretch>
            <a:fillRect/>
          </a:stretch>
        </p:blipFill>
        <p:spPr>
          <a:xfrm>
            <a:off x="6217920" y="1554480"/>
            <a:ext cx="5486400" cy="298803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Common RAII mistakes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What breaks the guarantee</a:t>
            </a:r>
          </a:p>
          <a:p>
            <a:pPr algn="l">
              <a:lnSpc>
                <a:spcPct val="115000"/>
              </a:lnSpc>
            </a:pPr>
            <a:r>
              <a:rPr sz="1500" b="0" i="0">
                <a:solidFill>
                  <a:srgbClr val="1A2B3C"/>
                </a:solidFill>
                <a:latin typeface="Red Hat Text"/>
              </a:rPr>
              <a:t>•  Throwing destructors — terminate() during stack unwind</a:t>
            </a:r>
          </a:p>
          <a:p>
            <a:pPr algn="l">
              <a:lnSpc>
                <a:spcPct val="115000"/>
              </a:lnSpc>
            </a:pPr>
            <a:r>
              <a:rPr sz="1500" b="0" i="0">
                <a:solidFill>
                  <a:srgbClr val="1A2B3C"/>
                </a:solidFill>
                <a:latin typeface="Red Hat Text"/>
              </a:rPr>
              <a:t>•  Raw owning pointers — leak on the exception path</a:t>
            </a:r>
          </a:p>
          <a:p>
            <a:pPr algn="l">
              <a:lnSpc>
                <a:spcPct val="115000"/>
              </a:lnSpc>
            </a:pPr>
            <a:r>
              <a:rPr sz="1500" b="0" i="0">
                <a:solidFill>
                  <a:srgbClr val="1A2B3C"/>
                </a:solidFill>
                <a:latin typeface="Red Hat Text"/>
              </a:rPr>
              <a:t>•  Manual try/catch cleanup — misses paths RAII wouldn't</a:t>
            </a:r>
          </a:p>
          <a:p>
            <a:pPr algn="l">
              <a:lnSpc>
                <a:spcPct val="115000"/>
              </a:lnSpc>
            </a:pPr>
            <a:r>
              <a:rPr sz="1500" b="0" i="0">
                <a:solidFill>
                  <a:srgbClr val="1A2B3C"/>
                </a:solidFill>
                <a:latin typeface="Red Hat Text"/>
              </a:rPr>
              <a:t>•  Missing noexcept moves — silent pessimization or UB</a:t>
            </a:r>
          </a:p>
          <a:p>
            <a:pPr algn="l">
              <a:lnSpc>
                <a:spcPct val="115000"/>
              </a:lnSpc>
            </a:pPr>
            <a:r>
              <a:rPr sz="1500" b="0" i="0">
                <a:solidFill>
                  <a:srgbClr val="1A2B3C"/>
                </a:solidFill>
                <a:latin typeface="Red Hat Text"/>
              </a:rPr>
              <a:t>•  Locks held across co_await — UB after suspension (the threading section)</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 The shape that always cleans up:</a:t>
            </a:r>
          </a:p>
          <a:p>
            <a:r>
              <a:rPr sz="1200">
                <a:solidFill>
                  <a:srgbClr val="F4F4F4"/>
                </a:solidFill>
                <a:latin typeface="Red Hat Mono"/>
              </a:rPr>
              <a:t>grpc::Status Handler(ServerContext* ctx,</a:t>
            </a:r>
          </a:p>
          <a:p>
            <a:r>
              <a:rPr sz="1200">
                <a:solidFill>
                  <a:srgbClr val="F4F4F4"/>
                </a:solidFill>
                <a:latin typeface="Red Hat Mono"/>
              </a:rPr>
              <a:t>                     const Req* req, Resp* resp) {</a:t>
            </a:r>
          </a:p>
          <a:p>
            <a:r>
              <a:rPr sz="1200">
                <a:solidFill>
                  <a:srgbClr val="F4F4F4"/>
                </a:solidFill>
                <a:latin typeface="Red Hat Mono"/>
              </a:rPr>
              <a:t>  try {</a:t>
            </a:r>
          </a:p>
          <a:p>
            <a:r>
              <a:rPr sz="1200">
                <a:solidFill>
                  <a:srgbClr val="F4F4F4"/>
                </a:solidFill>
                <a:latin typeface="Red Hat Mono"/>
              </a:rPr>
              <a:t>    RequestContext rc{*ctx, req-&gt;correlation_id()};</a:t>
            </a:r>
          </a:p>
          <a:p>
            <a:r>
              <a:rPr sz="1200">
                <a:solidFill>
                  <a:srgbClr val="F4F4F4"/>
                </a:solidFill>
                <a:latin typeface="Red Hat Mono"/>
              </a:rPr>
              <a:t>    // ... work; may throw grpc::Status or std::exception</a:t>
            </a:r>
          </a:p>
          <a:p>
            <a:r>
              <a:rPr sz="1200">
                <a:solidFill>
                  <a:srgbClr val="F4F4F4"/>
                </a:solidFill>
                <a:latin typeface="Red Hat Mono"/>
              </a:rPr>
              <a:t>    return grpc::Status::OK;       // rc destructs here</a:t>
            </a:r>
          </a:p>
          <a:p>
            <a:r>
              <a:rPr sz="1200">
                <a:solidFill>
                  <a:srgbClr val="F4F4F4"/>
                </a:solidFill>
                <a:latin typeface="Red Hat Mono"/>
              </a:rPr>
              <a:t>  } catch (const grpc::Status&amp; s) {  // ...and here</a:t>
            </a:r>
          </a:p>
          <a:p>
            <a:r>
              <a:rPr sz="1200">
                <a:solidFill>
                  <a:srgbClr val="F4F4F4"/>
                </a:solidFill>
                <a:latin typeface="Red Hat Mono"/>
              </a:rPr>
              <a:t>    return s;                        // ...and here</a:t>
            </a:r>
          </a:p>
          <a:p>
            <a:r>
              <a:rPr sz="1200">
                <a:solidFill>
                  <a:srgbClr val="F4F4F4"/>
                </a:solidFill>
                <a:latin typeface="Red Hat Mono"/>
              </a:rPr>
              <a:t>  }</a:t>
            </a:r>
          </a:p>
          <a:p>
            <a:r>
              <a:rPr sz="1200">
                <a:solidFill>
                  <a:srgbClr val="F4F4F4"/>
                </a:solidFill>
                <a:latin typeface="Red Hat Mono"/>
              </a:rPr>
              <a:t>}  // destructor runs on EVERY path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three exception-safety guarantees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What a function promises when it throws</a:t>
            </a:r>
          </a:p>
          <a:p>
            <a:pPr algn="l">
              <a:lnSpc>
                <a:spcPct val="115000"/>
              </a:lnSpc>
            </a:pPr>
            <a:r>
              <a:rPr sz="1500" b="0" i="0">
                <a:solidFill>
                  <a:srgbClr val="1A2B3C"/>
                </a:solidFill>
                <a:latin typeface="Red Hat Text"/>
              </a:rPr>
              <a:t>•  Nothrow — never throws (destructors, swap, moves); the strongest</a:t>
            </a:r>
          </a:p>
          <a:p>
            <a:pPr algn="l">
              <a:lnSpc>
                <a:spcPct val="115000"/>
              </a:lnSpc>
            </a:pPr>
            <a:r>
              <a:rPr sz="1500" b="0" i="0">
                <a:solidFill>
                  <a:srgbClr val="1A2B3C"/>
                </a:solidFill>
                <a:latin typeface="Red Hat Text"/>
              </a:rPr>
              <a:t>•  Strong — throws → state unchanged, as if the call never happened</a:t>
            </a:r>
          </a:p>
          <a:p>
            <a:pPr algn="l">
              <a:lnSpc>
                <a:spcPct val="115000"/>
              </a:lnSpc>
            </a:pPr>
            <a:r>
              <a:rPr sz="1500" b="0" i="0">
                <a:solidFill>
                  <a:srgbClr val="1A2B3C"/>
                </a:solidFill>
                <a:latin typeface="Red Hat Text"/>
              </a:rPr>
              <a:t>•  Basic — throws → invariants hold, no leaks, but state may have moved</a:t>
            </a:r>
          </a:p>
          <a:p>
            <a:pPr algn="l">
              <a:lnSpc>
                <a:spcPct val="115000"/>
              </a:lnSpc>
            </a:pPr>
            <a:r>
              <a:rPr sz="1500" b="0" i="1">
                <a:solidFill>
                  <a:srgbClr val="90A4AE"/>
                </a:solidFill>
                <a:latin typeface="Red Hat Text"/>
              </a:rPr>
              <a:t>RAII gives you the basic guarantee automatically; the strong guarantee is a design choice (copy-and-swap, build-then-commit).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Construction cost on the hot path</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RAII is free; what you put in it may not be</a:t>
            </a:r>
          </a:p>
          <a:p>
            <a:pPr algn="l">
              <a:lnSpc>
                <a:spcPct val="115000"/>
              </a:lnSpc>
            </a:pPr>
            <a:r>
              <a:rPr sz="1500" b="0" i="0">
                <a:solidFill>
                  <a:srgbClr val="1A2B3C"/>
                </a:solidFill>
                <a:latin typeface="Red Hat Text"/>
              </a:rPr>
              <a:t>•  The RequestContext itself is near-zero — members init in place</a:t>
            </a:r>
          </a:p>
          <a:p>
            <a:pPr algn="l">
              <a:lnSpc>
                <a:spcPct val="115000"/>
              </a:lnSpc>
            </a:pPr>
            <a:r>
              <a:rPr sz="1500" b="0" i="0">
                <a:solidFill>
                  <a:srgbClr val="1A2B3C"/>
                </a:solidFill>
                <a:latin typeface="Red Hat Text"/>
              </a:rPr>
              <a:t>•  A std::string member under 15 bytes (libstdc++ SBO) costs no allocation</a:t>
            </a:r>
          </a:p>
          <a:p>
            <a:pPr algn="l">
              <a:lnSpc>
                <a:spcPct val="115000"/>
              </a:lnSpc>
            </a:pPr>
            <a:r>
              <a:rPr sz="1500" b="0" i="0">
                <a:solidFill>
                  <a:srgbClr val="1A2B3C"/>
                </a:solidFill>
                <a:latin typeface="Red Hat Text"/>
              </a:rPr>
              <a:t>•  A std::map member allocates a node per insert; prefer flat/pmr</a:t>
            </a:r>
          </a:p>
          <a:p>
            <a:pPr algn="l">
              <a:lnSpc>
                <a:spcPct val="115000"/>
              </a:lnSpc>
            </a:pPr>
            <a:r>
              <a:rPr sz="1500" b="0" i="0">
                <a:solidFill>
                  <a:srgbClr val="1A2B3C"/>
                </a:solidFill>
                <a:latin typeface="Red Hat Text"/>
              </a:rPr>
              <a:t>•  Measure the constructor: it runs on every request, in the latency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02</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RequestContext RAII</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 gRPC handler builds a RequestContext on entry, then takes one of three exit paths — normal return, early return, and throw. Logging in the destructor proves it fires on all three. RAII cleanup made visible.</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examples/statelessness/02-raii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patterncatalyst.github.io/cpp-statelessness/examples/statelessness-02-raii/</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PMR: request brings its own memory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monotonic_buffer_resource as architectural statelessness.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layered arena recipe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monotonic buffer + pool resource</a:t>
            </a:r>
          </a:p>
          <a:p>
            <a:pPr algn="l">
              <a:lnSpc>
                <a:spcPct val="115000"/>
              </a:lnSpc>
            </a:pPr>
            <a:r>
              <a:rPr sz="1500" b="0" i="0">
                <a:solidFill>
                  <a:srgbClr val="1A2B3C"/>
                </a:solidFill>
                <a:latin typeface="Red Hat Text"/>
              </a:rPr>
              <a:t>•  A fixed on-stack/in-object buffer fronts a monotonic_buffer_resource</a:t>
            </a:r>
          </a:p>
          <a:p>
            <a:pPr algn="l">
              <a:lnSpc>
                <a:spcPct val="115000"/>
              </a:lnSpc>
            </a:pPr>
            <a:r>
              <a:rPr sz="1500" b="0" i="0">
                <a:solidFill>
                  <a:srgbClr val="1A2B3C"/>
                </a:solidFill>
                <a:latin typeface="Red Hat Text"/>
              </a:rPr>
              <a:t>•  An unsynchronized_pool_resource layers on top for varied block sizes</a:t>
            </a:r>
          </a:p>
          <a:p>
            <a:pPr algn="l">
              <a:lnSpc>
                <a:spcPct val="115000"/>
              </a:lnSpc>
            </a:pPr>
            <a:r>
              <a:rPr sz="1500" b="0" i="0">
                <a:solidFill>
                  <a:srgbClr val="1A2B3C"/>
                </a:solidFill>
                <a:latin typeface="Red Hat Text"/>
              </a:rPr>
              <a:t>•  Per-request pmr::vector / pmr::string allocate from the arena</a:t>
            </a:r>
          </a:p>
          <a:p>
            <a:pPr algn="l">
              <a:lnSpc>
                <a:spcPct val="115000"/>
              </a:lnSpc>
            </a:pPr>
            <a:r>
              <a:rPr sz="1500" b="0" i="0">
                <a:solidFill>
                  <a:srgbClr val="1A2B3C"/>
                </a:solidFill>
                <a:latin typeface="Red Hat Text"/>
              </a:rPr>
              <a:t>•  Destruction asymmetry: individual frees are no-ops; the whole arena is reclaimed at once</a:t>
            </a:r>
          </a:p>
        </p:txBody>
      </p:sp>
      <p:pic>
        <p:nvPicPr>
          <p:cNvPr id="10" name="Picture 9" descr="03-pmr.jpg"/>
          <p:cNvPicPr>
            <a:picLocks noChangeAspect="1"/>
          </p:cNvPicPr>
          <p:nvPr/>
        </p:nvPicPr>
        <p:blipFill>
          <a:blip r:embed="rId2"/>
          <a:stretch>
            <a:fillRect/>
          </a:stretch>
        </p:blipFill>
        <p:spPr>
          <a:xfrm>
            <a:off x="6217920" y="1554480"/>
            <a:ext cx="5486400" cy="298803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lifetime trap</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The one rule PMR makes easy to break</a:t>
            </a:r>
          </a:p>
          <a:p>
            <a:pPr algn="l">
              <a:lnSpc>
                <a:spcPct val="115000"/>
              </a:lnSpc>
            </a:pPr>
            <a:r>
              <a:rPr sz="1500" b="0" i="0">
                <a:solidFill>
                  <a:srgbClr val="1A2B3C"/>
                </a:solidFill>
                <a:latin typeface="Red Hat Text"/>
              </a:rPr>
              <a:t>•  A pmr container must not outlive its memory_resource</a:t>
            </a:r>
          </a:p>
          <a:p>
            <a:pPr algn="l">
              <a:lnSpc>
                <a:spcPct val="115000"/>
              </a:lnSpc>
            </a:pPr>
            <a:r>
              <a:rPr sz="1500" b="0" i="0">
                <a:solidFill>
                  <a:srgbClr val="1A2B3C"/>
                </a:solidFill>
                <a:latin typeface="Red Hat Text"/>
              </a:rPr>
              <a:t>•  Return a pmr::string built in a request arena → dangling after the arena dies</a:t>
            </a:r>
          </a:p>
          <a:p>
            <a:pPr algn="l">
              <a:lnSpc>
                <a:spcPct val="115000"/>
              </a:lnSpc>
            </a:pPr>
            <a:r>
              <a:rPr sz="1500" b="0" i="0">
                <a:solidFill>
                  <a:srgbClr val="1A2B3C"/>
                </a:solidFill>
                <a:latin typeface="Red Hat Text"/>
              </a:rPr>
              <a:t>•  Caught immediately under AddressSanitizer (the dev profile)</a:t>
            </a:r>
          </a:p>
          <a:p>
            <a:pPr algn="l">
              <a:lnSpc>
                <a:spcPct val="115000"/>
              </a:lnSpc>
            </a:pPr>
            <a:r>
              <a:rPr sz="1500" b="0" i="1">
                <a:solidFill>
                  <a:srgbClr val="90A4AE"/>
                </a:solidFill>
                <a:latin typeface="Red Hat Text"/>
              </a:rPr>
              <a:t>Fix: return owning std:: types across the scope boundary, or keep the value inside the arena's lifetime.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Which container, on PMR?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std:: containers that take a memory_resource</a:t>
            </a:r>
          </a:p>
          <a:p>
            <a:pPr algn="l">
              <a:lnSpc>
                <a:spcPct val="115000"/>
              </a:lnSpc>
            </a:pPr>
            <a:r>
              <a:rPr sz="1500" b="0" i="0">
                <a:solidFill>
                  <a:srgbClr val="1A2B3C"/>
                </a:solidFill>
                <a:latin typeface="Red Hat Text"/>
              </a:rPr>
              <a:t>•  pmr::vector — the workhorse; contiguous, arena-allocated</a:t>
            </a:r>
          </a:p>
          <a:p>
            <a:pPr algn="l">
              <a:lnSpc>
                <a:spcPct val="115000"/>
              </a:lnSpc>
            </a:pPr>
            <a:r>
              <a:rPr sz="1500" b="0" i="0">
                <a:solidFill>
                  <a:srgbClr val="1A2B3C"/>
                </a:solidFill>
                <a:latin typeface="Red Hat Text"/>
              </a:rPr>
              <a:t>•  pmr::string — short ids and scratch text without the global allocator</a:t>
            </a:r>
          </a:p>
          <a:p>
            <a:pPr algn="l">
              <a:lnSpc>
                <a:spcPct val="115000"/>
              </a:lnSpc>
            </a:pPr>
            <a:r>
              <a:rPr sz="1500" b="0" i="0">
                <a:solidFill>
                  <a:srgbClr val="1A2B3C"/>
                </a:solidFill>
                <a:latin typeface="Red Hat Text"/>
              </a:rPr>
              <a:t>•  pmr::unordered_map — per-request lookups; nodes in the arena</a:t>
            </a:r>
          </a:p>
          <a:p>
            <a:pPr algn="l">
              <a:lnSpc>
                <a:spcPct val="115000"/>
              </a:lnSpc>
            </a:pPr>
            <a:r>
              <a:rPr sz="1500" b="0" i="0">
                <a:solidFill>
                  <a:srgbClr val="1A2B3C"/>
                </a:solidFill>
                <a:latin typeface="Red Hat Text"/>
              </a:rPr>
              <a:t>•  pmr::flat_map (C++23) — sorted, cache-friendly, fewer allocations</a:t>
            </a:r>
          </a:p>
          <a:p>
            <a:pPr algn="l">
              <a:lnSpc>
                <a:spcPct val="115000"/>
              </a:lnSpc>
            </a:pPr>
            <a:r>
              <a:rPr sz="1500" b="0" i="1">
                <a:solidFill>
                  <a:srgbClr val="90A4AE"/>
                </a:solidFill>
                <a:latin typeface="Red Hat Text"/>
              </a:rPr>
              <a:t>Same familiar std:: types; the allocator is just plumbed to the request arena via the polymorphic resource.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Why the asymmetry is the whole point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Allocation vs. deallocation cost</a:t>
            </a:r>
          </a:p>
          <a:p>
            <a:pPr algn="l">
              <a:lnSpc>
                <a:spcPct val="115000"/>
              </a:lnSpc>
            </a:pPr>
            <a:r>
              <a:rPr sz="1500" b="0" i="0">
                <a:solidFill>
                  <a:srgbClr val="1A2B3C"/>
                </a:solidFill>
                <a:latin typeface="Red Hat Text"/>
              </a:rPr>
              <a:t>•  Allocation: a pointer bump in the monotonic buffer — a few instructions</a:t>
            </a:r>
          </a:p>
          <a:p>
            <a:pPr algn="l">
              <a:lnSpc>
                <a:spcPct val="115000"/>
              </a:lnSpc>
            </a:pPr>
            <a:r>
              <a:rPr sz="1500" b="0" i="0">
                <a:solidFill>
                  <a:srgbClr val="1A2B3C"/>
                </a:solidFill>
                <a:latin typeface="Red Hat Text"/>
              </a:rPr>
              <a:t>•  Per-object deallocation: a NO-OP (monotonic do_deallocate does nothing)</a:t>
            </a:r>
          </a:p>
          <a:p>
            <a:pPr algn="l">
              <a:lnSpc>
                <a:spcPct val="115000"/>
              </a:lnSpc>
            </a:pPr>
            <a:r>
              <a:rPr sz="1500" b="0" i="0">
                <a:solidFill>
                  <a:srgbClr val="1A2B3C"/>
                </a:solidFill>
                <a:latin typeface="Red Hat Text"/>
              </a:rPr>
              <a:t>•  Reclamation: one buffer reset when the RequestContext destructs</a:t>
            </a:r>
          </a:p>
          <a:p>
            <a:pPr algn="l">
              <a:lnSpc>
                <a:spcPct val="115000"/>
              </a:lnSpc>
            </a:pPr>
            <a:r>
              <a:rPr sz="1500" b="0" i="0">
                <a:solidFill>
                  <a:srgbClr val="1A2B3C"/>
                </a:solidFill>
                <a:latin typeface="Red Hat Text"/>
              </a:rPr>
              <a:t>•  Net: thousands of tiny per-request frees collapse into a single reset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03</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PMR request arena</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The layered monotonic + pool arena in action: per-request allocation freed in bulk, the release-cost asymmetry measured, and the lifetime trap caught live by AddressSanitizer.</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examples/statelessness/03-pmr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patterncatalyst.github.io/cpp-statelessness/examples/statelessness-03-pmr/</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Process-scoped state, owned in main()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Some state legitimately lives for the process — own it explicitly.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composition root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main() constructs everything by name</a:t>
            </a:r>
          </a:p>
          <a:p>
            <a:pPr algn="l">
              <a:lnSpc>
                <a:spcPct val="115000"/>
              </a:lnSpc>
            </a:pPr>
            <a:r>
              <a:rPr sz="1500" b="0" i="0">
                <a:solidFill>
                  <a:srgbClr val="1A2B3C"/>
                </a:solidFill>
                <a:latin typeface="Red Hat Text"/>
              </a:rPr>
              <a:t>•  Parsed config, pools, channel cache, caches — built once, in order</a:t>
            </a:r>
          </a:p>
          <a:p>
            <a:pPr algn="l">
              <a:lnSpc>
                <a:spcPct val="115000"/>
              </a:lnSpc>
            </a:pPr>
            <a:r>
              <a:rPr sz="1500" b="0" i="0">
                <a:solidFill>
                  <a:srgbClr val="1A2B3C"/>
                </a:solidFill>
                <a:latin typeface="Red Hat Text"/>
              </a:rPr>
              <a:t>•  Injected into services by reference; no global singletons</a:t>
            </a:r>
          </a:p>
          <a:p>
            <a:pPr algn="l">
              <a:lnSpc>
                <a:spcPct val="115000"/>
              </a:lnSpc>
            </a:pPr>
            <a:r>
              <a:rPr sz="1500" b="0" i="0">
                <a:solidFill>
                  <a:srgbClr val="1A2B3C"/>
                </a:solidFill>
                <a:latin typeface="Red Hat Text"/>
              </a:rPr>
              <a:t>•  Reverse-order destruction at scope exit — automatic teardown from RAII</a:t>
            </a:r>
          </a:p>
          <a:p>
            <a:pPr algn="l">
              <a:lnSpc>
                <a:spcPct val="115000"/>
              </a:lnSpc>
            </a:pPr>
            <a:r>
              <a:rPr sz="1500" b="0" i="0">
                <a:solidFill>
                  <a:srgbClr val="1A2B3C"/>
                </a:solidFill>
                <a:latin typeface="Red Hat Text"/>
              </a:rPr>
              <a:t>•  The State Architecture Table: what's process-scoped vs externalized</a:t>
            </a:r>
          </a:p>
        </p:txBody>
      </p:sp>
      <p:pic>
        <p:nvPicPr>
          <p:cNvPr id="10" name="Picture 9" descr="04-process-scoped-state.jpg"/>
          <p:cNvPicPr>
            <a:picLocks noChangeAspect="1"/>
          </p:cNvPicPr>
          <p:nvPr/>
        </p:nvPicPr>
        <p:blipFill>
          <a:blip r:embed="rId2"/>
          <a:stretch>
            <a:fillRect/>
          </a:stretch>
        </p:blipFill>
        <p:spPr>
          <a:xfrm>
            <a:off x="6217920" y="1554480"/>
            <a:ext cx="5486400" cy="2988033"/>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Size process-scoped state from the budget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The cgroup is the budget</a:t>
            </a:r>
          </a:p>
          <a:p>
            <a:pPr algn="l">
              <a:lnSpc>
                <a:spcPct val="115000"/>
              </a:lnSpc>
            </a:pPr>
            <a:r>
              <a:rPr sz="1500" b="0" i="0">
                <a:solidFill>
                  <a:srgbClr val="1A2B3C"/>
                </a:solidFill>
                <a:latin typeface="Red Hat Text"/>
              </a:rPr>
              <a:t>•  Bounded caches sized against memory.max, not host RAM</a:t>
            </a:r>
          </a:p>
          <a:p>
            <a:pPr algn="l">
              <a:lnSpc>
                <a:spcPct val="115000"/>
              </a:lnSpc>
            </a:pPr>
            <a:r>
              <a:rPr sz="1500" b="0" i="0">
                <a:solidFill>
                  <a:srgbClr val="1A2B3C"/>
                </a:solidFill>
                <a:latin typeface="Red Hat Text"/>
              </a:rPr>
              <a:t>•  An unbounded cache is a slow OOM under a memory cgroup</a:t>
            </a:r>
          </a:p>
          <a:p>
            <a:pPr algn="l">
              <a:lnSpc>
                <a:spcPct val="115000"/>
              </a:lnSpc>
            </a:pPr>
            <a:r>
              <a:rPr sz="1500" b="0" i="0">
                <a:solidFill>
                  <a:srgbClr val="1A2B3C"/>
                </a:solidFill>
                <a:latin typeface="Red Hat Text"/>
              </a:rPr>
              <a:t>•  Pool sizes and arena counts scale from the CPU quota (threading)</a:t>
            </a:r>
          </a:p>
          <a:p>
            <a:pPr algn="l">
              <a:lnSpc>
                <a:spcPct val="115000"/>
              </a:lnSpc>
            </a:pPr>
            <a:r>
              <a:rPr sz="1500" b="0" i="0">
                <a:solidFill>
                  <a:srgbClr val="1A2B3C"/>
                </a:solidFill>
                <a:latin typeface="Red Hat Text"/>
              </a:rPr>
              <a:t>•  Bounded structures everywhere: LRU caps, pool maxima, queue limits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Dependency injection over singletons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Inject by reference; don't reach for a singleton</a:t>
            </a:r>
          </a:p>
          <a:p>
            <a:pPr algn="l">
              <a:lnSpc>
                <a:spcPct val="115000"/>
              </a:lnSpc>
            </a:pPr>
            <a:r>
              <a:rPr sz="1500" b="0" i="0">
                <a:solidFill>
                  <a:srgbClr val="1A2B3C"/>
                </a:solidFill>
                <a:latin typeface="Red Hat Text"/>
              </a:rPr>
              <a:t>•  The Meyers singleton hides ownership and lifetime</a:t>
            </a:r>
          </a:p>
          <a:p>
            <a:pPr algn="l">
              <a:lnSpc>
                <a:spcPct val="115000"/>
              </a:lnSpc>
            </a:pPr>
            <a:r>
              <a:rPr sz="1500" b="0" i="0">
                <a:solidFill>
                  <a:srgbClr val="1A2B3C"/>
                </a:solidFill>
                <a:latin typeface="Red Hat Text"/>
              </a:rPr>
              <a:t>•  Pass collaborators in by const&amp; or &amp;; the service owns nothing global</a:t>
            </a:r>
          </a:p>
          <a:p>
            <a:pPr algn="l">
              <a:lnSpc>
                <a:spcPct val="115000"/>
              </a:lnSpc>
            </a:pPr>
            <a:r>
              <a:rPr sz="1500" b="0" i="0">
                <a:solidFill>
                  <a:srgbClr val="1A2B3C"/>
                </a:solidFill>
                <a:latin typeface="Red Hat Text"/>
              </a:rPr>
              <a:t>•  Testable: substitute a fake pool or channel at the seam</a:t>
            </a:r>
          </a:p>
          <a:p>
            <a:pPr algn="l">
              <a:lnSpc>
                <a:spcPct val="115000"/>
              </a:lnSpc>
            </a:pPr>
            <a:r>
              <a:rPr sz="1500" b="0" i="0">
                <a:solidFill>
                  <a:srgbClr val="1A2B3C"/>
                </a:solidFill>
                <a:latin typeface="Red Hat Text"/>
              </a:rPr>
              <a:t>•  Iglberger's DI chapter is the architectural underpinning</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int main() {</a:t>
            </a:r>
          </a:p>
          <a:p>
            <a:r>
              <a:rPr sz="1200">
                <a:solidFill>
                  <a:srgbClr val="F4F4F4"/>
                </a:solidFill>
                <a:latin typeface="Red Hat Mono"/>
              </a:rPr>
              <a:t>  const Config cfg = parse_config();</a:t>
            </a:r>
          </a:p>
          <a:p>
            <a:r>
              <a:rPr sz="1200">
                <a:solidFill>
                  <a:srgbClr val="F4F4F4"/>
                </a:solidFill>
                <a:latin typeface="Red Hat Mono"/>
              </a:rPr>
              <a:t>  PgPool       pg{cfg.pg_conninfo, cfg.pg_pool_size};</a:t>
            </a:r>
          </a:p>
          <a:p>
            <a:r>
              <a:rPr sz="1200">
                <a:solidFill>
                  <a:srgbClr val="F4F4F4"/>
                </a:solidFill>
                <a:latin typeface="Red Hat Mono"/>
              </a:rPr>
              <a:t>  ChannelCache channels{};</a:t>
            </a:r>
          </a:p>
          <a:p>
            <a:r>
              <a:rPr sz="1200">
                <a:solidFill>
                  <a:srgbClr val="F4F4F4"/>
                </a:solidFill>
                <a:latin typeface="Red Hat Mono"/>
              </a:rPr>
              <a:t>  // dependencies injected by reference, owned here:</a:t>
            </a:r>
          </a:p>
          <a:p>
            <a:r>
              <a:rPr sz="1200">
                <a:solidFill>
                  <a:srgbClr val="F4F4F4"/>
                </a:solidFill>
                <a:latin typeface="Red Hat Mono"/>
              </a:rPr>
              <a:t>  PricingService svc{cfg, pg, channels};</a:t>
            </a:r>
          </a:p>
          <a:p>
            <a:r>
              <a:rPr sz="1200">
                <a:solidFill>
                  <a:srgbClr val="F4F4F4"/>
                </a:solidFill>
                <a:latin typeface="Red Hat Mono"/>
              </a:rPr>
              <a:t>  // ... serve ...</a:t>
            </a:r>
          </a:p>
          <a:p>
            <a:r>
              <a:rPr sz="1200">
                <a:solidFill>
                  <a:srgbClr val="F4F4F4"/>
                </a:solidFill>
                <a:latin typeface="Red Hat Mono"/>
              </a:rPr>
              <a:t>}  // svc, channels, pg, cfg destruct in REVERSE order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Bounded by construction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Every process-scoped structure has a ceiling</a:t>
            </a:r>
          </a:p>
          <a:p>
            <a:pPr algn="l">
              <a:lnSpc>
                <a:spcPct val="115000"/>
              </a:lnSpc>
            </a:pPr>
            <a:r>
              <a:rPr sz="1500" b="0" i="0">
                <a:solidFill>
                  <a:srgbClr val="1A2B3C"/>
                </a:solidFill>
                <a:latin typeface="Red Hat Text"/>
              </a:rPr>
              <a:t>•  LRU caches: a max entry count sized from memory.max</a:t>
            </a:r>
          </a:p>
          <a:p>
            <a:pPr algn="l">
              <a:lnSpc>
                <a:spcPct val="115000"/>
              </a:lnSpc>
            </a:pPr>
            <a:r>
              <a:rPr sz="1500" b="0" i="0">
                <a:solidFill>
                  <a:srgbClr val="1A2B3C"/>
                </a:solidFill>
                <a:latin typeface="Red Hat Text"/>
              </a:rPr>
              <a:t>•  Connection pools: a hard maximum, with a checkout timeout</a:t>
            </a:r>
          </a:p>
          <a:p>
            <a:pPr algn="l">
              <a:lnSpc>
                <a:spcPct val="115000"/>
              </a:lnSpc>
            </a:pPr>
            <a:r>
              <a:rPr sz="1500" b="0" i="0">
                <a:solidFill>
                  <a:srgbClr val="1A2B3C"/>
                </a:solidFill>
                <a:latin typeface="Red Hat Text"/>
              </a:rPr>
              <a:t>•  Queues: bounded, with a backpressure policy when full</a:t>
            </a:r>
          </a:p>
          <a:p>
            <a:pPr algn="l">
              <a:lnSpc>
                <a:spcPct val="115000"/>
              </a:lnSpc>
            </a:pPr>
            <a:r>
              <a:rPr sz="1500" b="0" i="0">
                <a:solidFill>
                  <a:srgbClr val="1A2B3C"/>
                </a:solidFill>
                <a:latin typeface="Red Hat Text"/>
              </a:rPr>
              <a:t>•  Prepared-statement caches: capped, evicting least-recently-used</a:t>
            </a:r>
          </a:p>
          <a:p>
            <a:pPr algn="l">
              <a:lnSpc>
                <a:spcPct val="115000"/>
              </a:lnSpc>
            </a:pPr>
            <a:r>
              <a:rPr sz="1500" b="0" i="1">
                <a:solidFill>
                  <a:srgbClr val="90A4AE"/>
                </a:solidFill>
                <a:latin typeface="Red Hat Text"/>
              </a:rPr>
              <a:t>Unbounded + a memory cgroup = a slow, surprising OOMKill under load. Bound everything.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Threading under a CPU quota</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hardware_concurrency() lies; the cgroup tells the truth.</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CFS quota and the throttling trap</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Oversubscription buys nothing and costs tail latency</a:t>
            </a:r>
          </a:p>
          <a:p>
            <a:pPr algn="l">
              <a:lnSpc>
                <a:spcPct val="115000"/>
              </a:lnSpc>
            </a:pPr>
            <a:r>
              <a:rPr sz="1500" b="0" i="0">
                <a:solidFill>
                  <a:srgbClr val="1A2B3C"/>
                </a:solidFill>
                <a:latin typeface="Red Hat Text"/>
              </a:rPr>
              <a:t>•  CFS gives the cgroup quota microseconds per period</a:t>
            </a:r>
          </a:p>
          <a:p>
            <a:pPr algn="l">
              <a:lnSpc>
                <a:spcPct val="115000"/>
              </a:lnSpc>
            </a:pPr>
            <a:r>
              <a:rPr sz="1500" b="0" i="0">
                <a:solidFill>
                  <a:srgbClr val="1A2B3C"/>
                </a:solidFill>
                <a:latin typeface="Red Hat Text"/>
              </a:rPr>
              <a:t>•  A pool sized to nproc under --cpus=2 runs out of quota and is throttled</a:t>
            </a:r>
          </a:p>
          <a:p>
            <a:pPr algn="l">
              <a:lnSpc>
                <a:spcPct val="115000"/>
              </a:lnSpc>
            </a:pPr>
            <a:r>
              <a:rPr sz="1500" b="0" i="0">
                <a:solidFill>
                  <a:srgbClr val="1A2B3C"/>
                </a:solidFill>
                <a:latin typeface="Red Hat Text"/>
              </a:rPr>
              <a:t>•  Throttling shows up as p99 latency spikes, not lower throughput</a:t>
            </a:r>
          </a:p>
          <a:p>
            <a:pPr algn="l">
              <a:lnSpc>
                <a:spcPct val="115000"/>
              </a:lnSpc>
            </a:pPr>
            <a:r>
              <a:rPr sz="1500" b="0" i="0">
                <a:solidFill>
                  <a:srgbClr val="1A2B3C"/>
                </a:solidFill>
                <a:latin typeface="Red Hat Text"/>
              </a:rPr>
              <a:t>•  Fix: size pools to the cgroup quota; read it with the cgroup helper</a:t>
            </a:r>
          </a:p>
        </p:txBody>
      </p:sp>
      <p:pic>
        <p:nvPicPr>
          <p:cNvPr id="10" name="Picture 9" descr="05-threading.jpg"/>
          <p:cNvPicPr>
            <a:picLocks noChangeAspect="1"/>
          </p:cNvPicPr>
          <p:nvPr/>
        </p:nvPicPr>
        <p:blipFill>
          <a:blip r:embed="rId2"/>
          <a:stretch>
            <a:fillRect/>
          </a:stretch>
        </p:blipFill>
        <p:spPr>
          <a:xfrm>
            <a:off x="6217920" y="1554480"/>
            <a:ext cx="5486400" cy="286651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TLS, coroutines, and the co_await gotcha</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Concurrency models and where state hides</a:t>
            </a:r>
          </a:p>
          <a:p>
            <a:pPr algn="l">
              <a:lnSpc>
                <a:spcPct val="115000"/>
              </a:lnSpc>
            </a:pPr>
            <a:r>
              <a:rPr sz="1500" b="0" i="0">
                <a:solidFill>
                  <a:srgbClr val="1A2B3C"/>
                </a:solidFill>
                <a:latin typeface="Red Hat Text"/>
              </a:rPr>
              <a:t>•  TLS is process-scoped, per-thread — the CorrelationGuard pattern</a:t>
            </a:r>
          </a:p>
          <a:p>
            <a:pPr algn="l">
              <a:lnSpc>
                <a:spcPct val="115000"/>
              </a:lnSpc>
            </a:pPr>
            <a:r>
              <a:rPr sz="1500" b="0" i="0">
                <a:solidFill>
                  <a:srgbClr val="1A2B3C"/>
                </a:solidFill>
                <a:latin typeface="Red Hat Text"/>
              </a:rPr>
              <a:t>•  OS threads, C++20 stackless coroutines, Boost.Fiber stackful</a:t>
            </a:r>
          </a:p>
          <a:p>
            <a:pPr algn="l">
              <a:lnSpc>
                <a:spcPct val="115000"/>
              </a:lnSpc>
            </a:pPr>
            <a:r>
              <a:rPr sz="1500" b="0" i="0">
                <a:solidFill>
                  <a:srgbClr val="1A2B3C"/>
                </a:solidFill>
                <a:latin typeface="Red Hat Text"/>
              </a:rPr>
              <a:t>•  The trap: a value relied on via TLS after co_await may resume on another thread</a:t>
            </a:r>
          </a:p>
          <a:p>
            <a:pPr algn="l">
              <a:lnSpc>
                <a:spcPct val="115000"/>
              </a:lnSpc>
            </a:pPr>
            <a:r>
              <a:rPr sz="1500" b="0" i="0">
                <a:solidFill>
                  <a:srgbClr val="1A2B3C"/>
                </a:solidFill>
                <a:latin typeface="Red Hat Text"/>
              </a:rPr>
              <a:t>•  Capture request context into the coroutine frame, not TLS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gRPC sync-server ResourceQuota trap</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Thread count is not request concurrency</a:t>
            </a:r>
          </a:p>
          <a:p>
            <a:pPr algn="l">
              <a:lnSpc>
                <a:spcPct val="115000"/>
              </a:lnSpc>
            </a:pPr>
            <a:r>
              <a:rPr sz="1500" b="0" i="0">
                <a:solidFill>
                  <a:srgbClr val="1A2B3C"/>
                </a:solidFill>
                <a:latin typeface="Red Hat Text"/>
              </a:rPr>
              <a:t>•  Sync gRPC server: each in-flight RPC holds a thread for its duration</a:t>
            </a:r>
          </a:p>
          <a:p>
            <a:pPr algn="l">
              <a:lnSpc>
                <a:spcPct val="115000"/>
              </a:lnSpc>
            </a:pPr>
            <a:r>
              <a:rPr sz="1500" b="0" i="0">
                <a:solidFill>
                  <a:srgbClr val="1A2B3C"/>
                </a:solidFill>
                <a:latin typeface="Red Hat Text"/>
              </a:rPr>
              <a:t>•  Set NUM_CQS, MIN/MAX_POLLERS, and a ResourceQuota max-threads from the budget</a:t>
            </a:r>
          </a:p>
          <a:p>
            <a:pPr algn="l">
              <a:lnSpc>
                <a:spcPct val="115000"/>
              </a:lnSpc>
            </a:pPr>
            <a:r>
              <a:rPr sz="1500" b="0" i="0">
                <a:solidFill>
                  <a:srgbClr val="1A2B3C"/>
                </a:solidFill>
                <a:latin typeface="Red Hat Text"/>
              </a:rPr>
              <a:t>•  A blocking handler under-provisioned on threads serializes silently</a:t>
            </a:r>
          </a:p>
          <a:p>
            <a:pPr algn="l">
              <a:lnSpc>
                <a:spcPct val="115000"/>
              </a:lnSpc>
            </a:pPr>
            <a:r>
              <a:rPr sz="1500" b="0" i="0">
                <a:solidFill>
                  <a:srgbClr val="1A2B3C"/>
                </a:solidFill>
                <a:latin typeface="Red Hat Text"/>
              </a:rPr>
              <a:t>•  Size the server thread pool from the cgroup quota, with headroom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Allocator arenas under a quota</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Even malloc cares about the CPU count</a:t>
            </a:r>
          </a:p>
          <a:p>
            <a:pPr algn="l">
              <a:lnSpc>
                <a:spcPct val="115000"/>
              </a:lnSpc>
            </a:pPr>
            <a:r>
              <a:rPr sz="1500" b="0" i="0">
                <a:solidFill>
                  <a:srgbClr val="1A2B3C"/>
                </a:solidFill>
                <a:latin typeface="Red Hat Text"/>
              </a:rPr>
              <a:t>•  jemalloc / tcmalloc shard arenas per-CPU to reduce contention</a:t>
            </a:r>
          </a:p>
          <a:p>
            <a:pPr algn="l">
              <a:lnSpc>
                <a:spcPct val="115000"/>
              </a:lnSpc>
            </a:pPr>
            <a:r>
              <a:rPr sz="1500" b="0" i="0">
                <a:solidFill>
                  <a:srgbClr val="1A2B3C"/>
                </a:solidFill>
                <a:latin typeface="Red Hat Text"/>
              </a:rPr>
              <a:t>•  Default arena count keys off the host cores, not the cgroup</a:t>
            </a:r>
          </a:p>
          <a:p>
            <a:pPr algn="l">
              <a:lnSpc>
                <a:spcPct val="115000"/>
              </a:lnSpc>
            </a:pPr>
            <a:r>
              <a:rPr sz="1500" b="0" i="0">
                <a:solidFill>
                  <a:srgbClr val="1A2B3C"/>
                </a:solidFill>
                <a:latin typeface="Red Hat Text"/>
              </a:rPr>
              <a:t>•  Over-arena'd under a small quota wastes memory; size from the budget</a:t>
            </a:r>
          </a:p>
          <a:p>
            <a:pPr algn="l">
              <a:lnSpc>
                <a:spcPct val="115000"/>
              </a:lnSpc>
            </a:pPr>
            <a:r>
              <a:rPr sz="1500" b="0" i="0">
                <a:solidFill>
                  <a:srgbClr val="1A2B3C"/>
                </a:solidFill>
                <a:latin typeface="Red Hat Text"/>
              </a:rPr>
              <a:t>•  MALLOC_CONF narenas (jemalloc) tuned from cpu_limit_cores()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Cooperative cancellation with stop_token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std::jthread + std::stop_token (C++20)</a:t>
            </a:r>
          </a:p>
          <a:p>
            <a:pPr algn="l">
              <a:lnSpc>
                <a:spcPct val="115000"/>
              </a:lnSpc>
            </a:pPr>
            <a:r>
              <a:rPr sz="1500" b="0" i="0">
                <a:solidFill>
                  <a:srgbClr val="1A2B3C"/>
                </a:solidFill>
                <a:latin typeface="Red Hat Text"/>
              </a:rPr>
              <a:t>•  Background workers take a stop_token; loop while !stop_requested()</a:t>
            </a:r>
          </a:p>
          <a:p>
            <a:pPr algn="l">
              <a:lnSpc>
                <a:spcPct val="115000"/>
              </a:lnSpc>
            </a:pPr>
            <a:r>
              <a:rPr sz="1500" b="0" i="0">
                <a:solidFill>
                  <a:srgbClr val="1A2B3C"/>
                </a:solidFill>
                <a:latin typeface="Red Hat Text"/>
              </a:rPr>
              <a:t>•  std::jthread joins on destruction — no detached threads outliving main()</a:t>
            </a:r>
          </a:p>
          <a:p>
            <a:pPr algn="l">
              <a:lnSpc>
                <a:spcPct val="115000"/>
              </a:lnSpc>
            </a:pPr>
            <a:r>
              <a:rPr sz="1500" b="0" i="0">
                <a:solidFill>
                  <a:srgbClr val="1A2B3C"/>
                </a:solidFill>
                <a:latin typeface="Red Hat Text"/>
              </a:rPr>
              <a:t>•  Shutdown requests stop, the worker drains, the jthread joins cleanly</a:t>
            </a:r>
          </a:p>
          <a:p>
            <a:pPr algn="l">
              <a:lnSpc>
                <a:spcPct val="115000"/>
              </a:lnSpc>
            </a:pPr>
            <a:r>
              <a:rPr sz="1500" b="0" i="0">
                <a:solidFill>
                  <a:srgbClr val="1A2B3C"/>
                </a:solidFill>
                <a:latin typeface="Red Hat Text"/>
              </a:rPr>
              <a:t>•  Ties directly into the graceful-shutdown sequence (health &amp; shutdown)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05</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Threading &amp; CPU budget</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 cgroup-aware probe and a pool-size sweep under --cpus=2 show that oversubscription buys no throughput and wrecks tail latency through CFS throttling.</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examples/statelessness/05-threading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patterncatalyst.github.io/cpp-statelessness/examples/statelessness-05-threading/</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12-Factor adapted to C++</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Most factors map directly; three collide with C++ idioms.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Config: four binding times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Where a value gets fixed matters</a:t>
            </a:r>
          </a:p>
          <a:p>
            <a:pPr algn="l">
              <a:lnSpc>
                <a:spcPct val="115000"/>
              </a:lnSpc>
            </a:pPr>
            <a:r>
              <a:rPr sz="1500" b="0" i="0">
                <a:solidFill>
                  <a:srgbClr val="1A2B3C"/>
                </a:solidFill>
                <a:latin typeface="Red Hat Text"/>
              </a:rPr>
              <a:t>•  Compile-time — constexpr, template params; zero runtime cost, needs a rebuild</a:t>
            </a:r>
          </a:p>
          <a:p>
            <a:pPr algn="l">
              <a:lnSpc>
                <a:spcPct val="115000"/>
              </a:lnSpc>
            </a:pPr>
            <a:r>
              <a:rPr sz="1500" b="0" i="0">
                <a:solidFill>
                  <a:srgbClr val="1A2B3C"/>
                </a:solidFill>
                <a:latin typeface="Red Hat Text"/>
              </a:rPr>
              <a:t>•  Link-time — which libraries, which ABI</a:t>
            </a:r>
          </a:p>
          <a:p>
            <a:pPr algn="l">
              <a:lnSpc>
                <a:spcPct val="115000"/>
              </a:lnSpc>
            </a:pPr>
            <a:r>
              <a:rPr sz="1500" b="0" i="0">
                <a:solidFill>
                  <a:srgbClr val="1A2B3C"/>
                </a:solidFill>
                <a:latin typeface="Red Hat Text"/>
              </a:rPr>
              <a:t>•  Env-time — parsed once in main() from the environment (12-factor's Config)</a:t>
            </a:r>
          </a:p>
          <a:p>
            <a:pPr algn="l">
              <a:lnSpc>
                <a:spcPct val="115000"/>
              </a:lnSpc>
            </a:pPr>
            <a:r>
              <a:rPr sz="1500" b="0" i="0">
                <a:solidFill>
                  <a:srgbClr val="1A2B3C"/>
                </a:solidFill>
                <a:latin typeface="Red Hat Text"/>
              </a:rPr>
              <a:t>•  Runtime — reloadable policy; rare, and the most expensive</a:t>
            </a:r>
          </a:p>
          <a:p>
            <a:pPr algn="l">
              <a:lnSpc>
                <a:spcPct val="115000"/>
              </a:lnSpc>
            </a:pPr>
            <a:r>
              <a:rPr sz="1500" b="0" i="1">
                <a:solidFill>
                  <a:srgbClr val="90A4AE"/>
                </a:solidFill>
                <a:latin typeface="Red Hat Text"/>
              </a:rPr>
              <a:t>Parse env-time config once into an immutable struct; pass it by const reference. No getenv scattered around.</a:t>
            </a:r>
          </a:p>
        </p:txBody>
      </p:sp>
      <p:pic>
        <p:nvPicPr>
          <p:cNvPr id="10" name="Picture 9" descr="06-twelve-factor.jpg"/>
          <p:cNvPicPr>
            <a:picLocks noChangeAspect="1"/>
          </p:cNvPicPr>
          <p:nvPr/>
        </p:nvPicPr>
        <p:blipFill>
          <a:blip r:embed="rId2"/>
          <a:stretch>
            <a:fillRect/>
          </a:stretch>
        </p:blipFill>
        <p:spPr>
          <a:xfrm>
            <a:off x="6217920" y="1554480"/>
            <a:ext cx="5486400" cy="2927271"/>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Processes &amp; Disposability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Singletons and the startup tax</a:t>
            </a:r>
          </a:p>
          <a:p>
            <a:pPr algn="l">
              <a:lnSpc>
                <a:spcPct val="115000"/>
              </a:lnSpc>
            </a:pPr>
            <a:r>
              <a:rPr sz="1500" b="0" i="0">
                <a:solidFill>
                  <a:srgbClr val="1A2B3C"/>
                </a:solidFill>
                <a:latin typeface="Red Hat Text"/>
              </a:rPr>
              <a:t>•  Processes: the Meyers singleton hides ownership — inject instead</a:t>
            </a:r>
          </a:p>
          <a:p>
            <a:pPr algn="l">
              <a:lnSpc>
                <a:spcPct val="115000"/>
              </a:lnSpc>
            </a:pPr>
            <a:r>
              <a:rPr sz="1500" b="0" i="0">
                <a:solidFill>
                  <a:srgbClr val="1A2B3C"/>
                </a:solidFill>
                <a:latin typeface="Red Hat Text"/>
              </a:rPr>
              <a:t>•  Disposability: fast startup and clean shutdown are features under orchestration</a:t>
            </a:r>
          </a:p>
          <a:p>
            <a:pPr algn="l">
              <a:lnSpc>
                <a:spcPct val="115000"/>
              </a:lnSpc>
            </a:pPr>
            <a:r>
              <a:rPr sz="1500" b="0" i="0">
                <a:solidFill>
                  <a:srgbClr val="1A2B3C"/>
                </a:solidFill>
                <a:latin typeface="Red Hat Text"/>
              </a:rPr>
              <a:t>•  The C++ startup tax — static initialization order, constinit to tame it</a:t>
            </a:r>
          </a:p>
          <a:p>
            <a:pPr algn="l">
              <a:lnSpc>
                <a:spcPct val="115000"/>
              </a:lnSpc>
            </a:pPr>
            <a:r>
              <a:rPr sz="1500" b="0" i="0">
                <a:solidFill>
                  <a:srgbClr val="1A2B3C"/>
                </a:solidFill>
                <a:latin typeface="Red Hat Text"/>
              </a:rPr>
              <a:t>•  Staged startup: NOT_SERVING → warm → SERVING (health &amp; shutdown)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Taming the startup tax with constinit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Static init order is a latency and correctness risk</a:t>
            </a:r>
          </a:p>
          <a:p>
            <a:pPr algn="l">
              <a:lnSpc>
                <a:spcPct val="115000"/>
              </a:lnSpc>
            </a:pPr>
            <a:r>
              <a:rPr sz="1500" b="0" i="0">
                <a:solidFill>
                  <a:srgbClr val="1A2B3C"/>
                </a:solidFill>
                <a:latin typeface="Red Hat Text"/>
              </a:rPr>
              <a:t>•  Non-trivial globals run constructors before main() — the startup tax</a:t>
            </a:r>
          </a:p>
          <a:p>
            <a:pPr algn="l">
              <a:lnSpc>
                <a:spcPct val="115000"/>
              </a:lnSpc>
            </a:pPr>
            <a:r>
              <a:rPr sz="1500" b="0" i="0">
                <a:solidFill>
                  <a:srgbClr val="1A2B3C"/>
                </a:solidFill>
                <a:latin typeface="Red Hat Text"/>
              </a:rPr>
              <a:t>•  The static initialization order fiasco: cross-TU ordering is undefined</a:t>
            </a:r>
          </a:p>
          <a:p>
            <a:pPr algn="l">
              <a:lnSpc>
                <a:spcPct val="115000"/>
              </a:lnSpc>
            </a:pPr>
            <a:r>
              <a:rPr sz="1500" b="0" i="0">
                <a:solidFill>
                  <a:srgbClr val="1A2B3C"/>
                </a:solidFill>
                <a:latin typeface="Red Hat Text"/>
              </a:rPr>
              <a:t>•  constinit forces compile-time init — no runtime constructor, defined order</a:t>
            </a:r>
          </a:p>
          <a:p>
            <a:pPr algn="l">
              <a:lnSpc>
                <a:spcPct val="115000"/>
              </a:lnSpc>
            </a:pPr>
            <a:r>
              <a:rPr sz="1500" b="0" i="0">
                <a:solidFill>
                  <a:srgbClr val="1A2B3C"/>
                </a:solidFill>
                <a:latin typeface="Red Hat Text"/>
              </a:rPr>
              <a:t>•  Prefer locals in main() over globals; constinit for the unavoidable ones</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 Forced to be initialized at compile time — zero startup cost,</a:t>
            </a:r>
          </a:p>
          <a:p>
            <a:r>
              <a:rPr sz="1100">
                <a:solidFill>
                  <a:srgbClr val="F4F4F4"/>
                </a:solidFill>
                <a:latin typeface="Red Hat Mono"/>
              </a:rPr>
              <a:t>// no ordering fiasco:</a:t>
            </a:r>
          </a:p>
          <a:p>
            <a:r>
              <a:rPr sz="1100">
                <a:solidFill>
                  <a:srgbClr val="F4F4F4"/>
                </a:solidFill>
                <a:latin typeface="Red Hat Mono"/>
              </a:rPr>
              <a:t>constinit std::string_view kBuildVersion = "1.4.2";</a:t>
            </a:r>
          </a:p>
          <a:p>
            <a:r>
              <a:rPr sz="1100">
                <a:solidFill>
                  <a:srgbClr val="F4F4F4"/>
                </a:solidFill>
                <a:latin typeface="Red Hat Mono"/>
              </a:rPr>
              <a:t> </a:t>
            </a:r>
          </a:p>
          <a:p>
            <a:r>
              <a:rPr sz="1100">
                <a:solidFill>
                  <a:srgbClr val="F4F4F4"/>
                </a:solidFill>
                <a:latin typeface="Red Hat Mono"/>
              </a:rPr>
              <a:t>// Better still: own it in main() and inject it.</a:t>
            </a:r>
          </a:p>
          <a:p>
            <a:r>
              <a:rPr sz="1100">
                <a:solidFill>
                  <a:srgbClr val="F4F4F4"/>
                </a:solidFill>
                <a:latin typeface="Red Hat Mono"/>
              </a:rPr>
              <a:t>// Worst: a non-trivial global that runs a constructor</a:t>
            </a:r>
          </a:p>
          <a:p>
            <a:r>
              <a:rPr sz="1100">
                <a:solidFill>
                  <a:srgbClr val="F4F4F4"/>
                </a:solidFill>
                <a:latin typeface="Red Hat Mono"/>
              </a:rPr>
              <a:t>//        before main() in an undefined cross-TU order.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other factors, briefly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Most of 12-factor maps cleanly</a:t>
            </a:r>
          </a:p>
          <a:p>
            <a:pPr algn="l">
              <a:lnSpc>
                <a:spcPct val="115000"/>
              </a:lnSpc>
            </a:pPr>
            <a:r>
              <a:rPr sz="1500" b="0" i="0">
                <a:solidFill>
                  <a:srgbClr val="1A2B3C"/>
                </a:solidFill>
                <a:latin typeface="Red Hat Text"/>
              </a:rPr>
              <a:t>•  Logs → stdout, the collector owns persistence (ephemeral filesystem)</a:t>
            </a:r>
          </a:p>
          <a:p>
            <a:pPr algn="l">
              <a:lnSpc>
                <a:spcPct val="115000"/>
              </a:lnSpc>
            </a:pPr>
            <a:r>
              <a:rPr sz="1500" b="0" i="0">
                <a:solidFill>
                  <a:srgbClr val="1A2B3C"/>
                </a:solidFill>
                <a:latin typeface="Red Hat Text"/>
              </a:rPr>
              <a:t>•  Backing services → attached resources, swappable by config (state externalization)</a:t>
            </a:r>
          </a:p>
          <a:p>
            <a:pPr algn="l">
              <a:lnSpc>
                <a:spcPct val="115000"/>
              </a:lnSpc>
            </a:pPr>
            <a:r>
              <a:rPr sz="1500" b="0" i="0">
                <a:solidFill>
                  <a:srgbClr val="1A2B3C"/>
                </a:solidFill>
                <a:latin typeface="Red Hat Text"/>
              </a:rPr>
              <a:t>•  Build/release/run → the multi-stage Containerfile + a lockfile (build tooling)</a:t>
            </a:r>
          </a:p>
          <a:p>
            <a:pPr algn="l">
              <a:lnSpc>
                <a:spcPct val="115000"/>
              </a:lnSpc>
            </a:pPr>
            <a:r>
              <a:rPr sz="1500" b="0" i="0">
                <a:solidFill>
                  <a:srgbClr val="1A2B3C"/>
                </a:solidFill>
                <a:latin typeface="Red Hat Text"/>
              </a:rPr>
              <a:t>•  Port binding, concurrency, dev/prod parity → natural fits for a C++ service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§7</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State externalization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What goes outside the process, and how to reach it safely.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Pools, RAII checkout, idempotency</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Backing services done right</a:t>
            </a:r>
          </a:p>
          <a:p>
            <a:pPr algn="l">
              <a:lnSpc>
                <a:spcPct val="115000"/>
              </a:lnSpc>
            </a:pPr>
            <a:r>
              <a:rPr sz="1500" b="0" i="0">
                <a:solidFill>
                  <a:srgbClr val="1A2B3C"/>
                </a:solidFill>
                <a:latin typeface="Red Hat Text"/>
              </a:rPr>
              <a:t>•  Connection pool = process-scoped infra; per-handler RAII checkout</a:t>
            </a:r>
          </a:p>
          <a:p>
            <a:pPr algn="l">
              <a:lnSpc>
                <a:spcPct val="115000"/>
              </a:lnSpc>
            </a:pPr>
            <a:r>
              <a:rPr sz="1500" b="0" i="0">
                <a:solidFill>
                  <a:srgbClr val="1A2B3C"/>
                </a:solidFill>
                <a:latin typeface="Red Hat Text"/>
              </a:rPr>
              <a:t>•  ScopedConnection returns the connection on scope exit; invalidate() on broken</a:t>
            </a:r>
          </a:p>
          <a:p>
            <a:pPr algn="l">
              <a:lnSpc>
                <a:spcPct val="115000"/>
              </a:lnSpc>
            </a:pPr>
            <a:r>
              <a:rPr sz="1500" b="0" i="0">
                <a:solidFill>
                  <a:srgbClr val="1A2B3C"/>
                </a:solidFill>
                <a:latin typeface="Red Hat Text"/>
              </a:rPr>
              <a:t>•  Idempotency keys + ON CONFLICT DO NOTHING = DB-authoritative dedup</a:t>
            </a:r>
          </a:p>
          <a:p>
            <a:pPr algn="l">
              <a:lnSpc>
                <a:spcPct val="115000"/>
              </a:lnSpc>
            </a:pPr>
            <a:r>
              <a:rPr sz="1500" b="0" i="0">
                <a:solidFill>
                  <a:srgbClr val="1A2B3C"/>
                </a:solidFill>
                <a:latin typeface="Red Hat Text"/>
              </a:rPr>
              <a:t>•  Deadlines propagate to the backing service (statement_timeout from the budget)</a:t>
            </a:r>
          </a:p>
        </p:txBody>
      </p:sp>
      <p:pic>
        <p:nvPicPr>
          <p:cNvPr id="10" name="Picture 9" descr="07-state-externalization.jpg"/>
          <p:cNvPicPr>
            <a:picLocks noChangeAspect="1"/>
          </p:cNvPicPr>
          <p:nvPr/>
        </p:nvPicPr>
        <p:blipFill>
          <a:blip r:embed="rId2"/>
          <a:stretch>
            <a:fillRect/>
          </a:stretch>
        </p:blipFill>
        <p:spPr>
          <a:xfrm>
            <a:off x="6217920" y="1554480"/>
            <a:ext cx="5486400" cy="286651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outbox pattern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Atomic DB write + event emission</a:t>
            </a:r>
          </a:p>
          <a:p>
            <a:pPr algn="l">
              <a:lnSpc>
                <a:spcPct val="115000"/>
              </a:lnSpc>
            </a:pPr>
            <a:r>
              <a:rPr sz="1500" b="0" i="0">
                <a:solidFill>
                  <a:srgbClr val="1A2B3C"/>
                </a:solidFill>
                <a:latin typeface="Red Hat Text"/>
              </a:rPr>
              <a:t>•  Write the row and an outbox event in ONE transaction</a:t>
            </a:r>
          </a:p>
          <a:p>
            <a:pPr algn="l">
              <a:lnSpc>
                <a:spcPct val="115000"/>
              </a:lnSpc>
            </a:pPr>
            <a:r>
              <a:rPr sz="1500" b="0" i="0">
                <a:solidFill>
                  <a:srgbClr val="1A2B3C"/>
                </a:solidFill>
                <a:latin typeface="Red Hat Text"/>
              </a:rPr>
              <a:t>•  A relay polls the outbox with FOR UPDATE SKIP LOCKED, publishes to Kafka</a:t>
            </a:r>
          </a:p>
          <a:p>
            <a:pPr algn="l">
              <a:lnSpc>
                <a:spcPct val="115000"/>
              </a:lnSpc>
            </a:pPr>
            <a:r>
              <a:rPr sz="1500" b="0" i="0">
                <a:solidFill>
                  <a:srgbClr val="1A2B3C"/>
                </a:solidFill>
                <a:latin typeface="Red Hat Text"/>
              </a:rPr>
              <a:t>•  An idempotent consumer applies events with ON CONFLICT DO NOTHING</a:t>
            </a:r>
          </a:p>
          <a:p>
            <a:pPr algn="l">
              <a:lnSpc>
                <a:spcPct val="115000"/>
              </a:lnSpc>
            </a:pPr>
            <a:r>
              <a:rPr sz="1500" b="0" i="0">
                <a:solidFill>
                  <a:srgbClr val="1A2B3C"/>
                </a:solidFill>
                <a:latin typeface="Red Hat Text"/>
              </a:rPr>
              <a:t>•  At-least-once delivery + idempotent apply = exactly-once effect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Deadlines propagate all the way down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One budget, enforced at every hop</a:t>
            </a:r>
          </a:p>
          <a:p>
            <a:pPr algn="l">
              <a:lnSpc>
                <a:spcPct val="115000"/>
              </a:lnSpc>
            </a:pPr>
            <a:r>
              <a:rPr sz="1500" b="0" i="0">
                <a:solidFill>
                  <a:srgbClr val="1A2B3C"/>
                </a:solidFill>
                <a:latin typeface="Red Hat Text"/>
              </a:rPr>
              <a:t>•  The request deadline comes from the gRPC ServerContext</a:t>
            </a:r>
          </a:p>
          <a:p>
            <a:pPr algn="l">
              <a:lnSpc>
                <a:spcPct val="115000"/>
              </a:lnSpc>
            </a:pPr>
            <a:r>
              <a:rPr sz="1500" b="0" i="0">
                <a:solidFill>
                  <a:srgbClr val="1A2B3C"/>
                </a:solidFill>
                <a:latin typeface="Red Hat Text"/>
              </a:rPr>
              <a:t>•  Compute remaining budget; set it as the DB statement_timeout</a:t>
            </a:r>
          </a:p>
          <a:p>
            <a:pPr algn="l">
              <a:lnSpc>
                <a:spcPct val="115000"/>
              </a:lnSpc>
            </a:pPr>
            <a:r>
              <a:rPr sz="1500" b="0" i="0">
                <a:solidFill>
                  <a:srgbClr val="1A2B3C"/>
                </a:solidFill>
                <a:latin typeface="Red Hat Text"/>
              </a:rPr>
              <a:t>•  Pass the same deadline to outbound gRPC ClientContext</a:t>
            </a:r>
          </a:p>
          <a:p>
            <a:pPr algn="l">
              <a:lnSpc>
                <a:spcPct val="115000"/>
              </a:lnSpc>
            </a:pPr>
            <a:r>
              <a:rPr sz="1500" b="0" i="0">
                <a:solidFill>
                  <a:srgbClr val="1A2B3C"/>
                </a:solidFill>
                <a:latin typeface="Red Hat Text"/>
              </a:rPr>
              <a:t>•  A blown budget surfaces as DEADLINE_EXCEEDED, not a hung handler</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auto remaining = deadline - now();</a:t>
            </a:r>
          </a:p>
          <a:p>
            <a:r>
              <a:rPr sz="1200">
                <a:solidFill>
                  <a:srgbClr val="F4F4F4"/>
                </a:solidFill>
                <a:latin typeface="Red Hat Mono"/>
              </a:rPr>
              <a:t>if (remaining &lt;= 0ms)</a:t>
            </a:r>
          </a:p>
          <a:p>
            <a:r>
              <a:rPr sz="1200">
                <a:solidFill>
                  <a:srgbClr val="F4F4F4"/>
                </a:solidFill>
                <a:latin typeface="Red Hat Mono"/>
              </a:rPr>
              <a:t>  throw grpc::Status{DEADLINE_EXCEEDED, "..."};</a:t>
            </a:r>
          </a:p>
          <a:p>
            <a:r>
              <a:rPr sz="1200">
                <a:solidFill>
                  <a:srgbClr val="F4F4F4"/>
                </a:solidFill>
                <a:latin typeface="Red Hat Mono"/>
              </a:rPr>
              <a:t>// DB: SET statement_timeout = &lt;remaining ms&gt;</a:t>
            </a:r>
          </a:p>
          <a:p>
            <a:r>
              <a:rPr sz="1200">
                <a:solidFill>
                  <a:srgbClr val="F4F4F4"/>
                </a:solidFill>
                <a:latin typeface="Red Hat Mono"/>
              </a:rPr>
              <a:t>// gRPC: client_ctx.set_deadline(rc.deadline());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Retry-with-backoff vs. fail-fast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When to retry and when to give up</a:t>
            </a:r>
          </a:p>
          <a:p>
            <a:pPr algn="l">
              <a:lnSpc>
                <a:spcPct val="115000"/>
              </a:lnSpc>
            </a:pPr>
            <a:r>
              <a:rPr sz="1500" b="0" i="0">
                <a:solidFill>
                  <a:srgbClr val="1A2B3C"/>
                </a:solidFill>
                <a:latin typeface="Red Hat Text"/>
              </a:rPr>
              <a:t>•  Idempotent + transient failure → retry with capped exponential backoff + jitter</a:t>
            </a:r>
          </a:p>
          <a:p>
            <a:pPr algn="l">
              <a:lnSpc>
                <a:spcPct val="115000"/>
              </a:lnSpc>
            </a:pPr>
            <a:r>
              <a:rPr sz="1500" b="0" i="0">
                <a:solidFill>
                  <a:srgbClr val="1A2B3C"/>
                </a:solidFill>
                <a:latin typeface="Red Hat Text"/>
              </a:rPr>
              <a:t>•  Non-idempotent without a key → do NOT blindly retry</a:t>
            </a:r>
          </a:p>
          <a:p>
            <a:pPr algn="l">
              <a:lnSpc>
                <a:spcPct val="115000"/>
              </a:lnSpc>
            </a:pPr>
            <a:r>
              <a:rPr sz="1500" b="0" i="0">
                <a:solidFill>
                  <a:srgbClr val="1A2B3C"/>
                </a:solidFill>
                <a:latin typeface="Red Hat Text"/>
              </a:rPr>
              <a:t>•  Budget-aware: never retry past the request deadline</a:t>
            </a:r>
          </a:p>
          <a:p>
            <a:pPr algn="l">
              <a:lnSpc>
                <a:spcPct val="115000"/>
              </a:lnSpc>
            </a:pPr>
            <a:r>
              <a:rPr sz="1500" b="0" i="0">
                <a:solidFill>
                  <a:srgbClr val="1A2B3C"/>
                </a:solidFill>
                <a:latin typeface="Red Hat Text"/>
              </a:rPr>
              <a:t>•  invalidate() a broken pooled connection so it isn't reused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cache counterexample, fixed</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Why the local-cache counterexample was the bug</a:t>
            </a:r>
          </a:p>
          <a:p>
            <a:pPr algn="l">
              <a:lnSpc>
                <a:spcPct val="115000"/>
              </a:lnSpc>
            </a:pPr>
            <a:r>
              <a:rPr sz="1500" b="0" i="0">
                <a:solidFill>
                  <a:srgbClr val="1A2B3C"/>
                </a:solidFill>
                <a:latin typeface="Red Hat Text"/>
              </a:rPr>
              <a:t>•  An in-process cache of authoritative data desyncs across replicas</a:t>
            </a:r>
          </a:p>
          <a:p>
            <a:pPr algn="l">
              <a:lnSpc>
                <a:spcPct val="115000"/>
              </a:lnSpc>
            </a:pPr>
            <a:r>
              <a:rPr sz="1500" b="0" i="0">
                <a:solidFill>
                  <a:srgbClr val="1A2B3C"/>
                </a:solidFill>
                <a:latin typeface="Red Hat Text"/>
              </a:rPr>
              <a:t>•  Replica A updates; replica B serves a stale read — non-deterministic</a:t>
            </a:r>
          </a:p>
          <a:p>
            <a:pPr algn="l">
              <a:lnSpc>
                <a:spcPct val="115000"/>
              </a:lnSpc>
            </a:pPr>
            <a:r>
              <a:rPr sz="1500" b="0" i="0">
                <a:solidFill>
                  <a:srgbClr val="1A2B3C"/>
                </a:solidFill>
                <a:latin typeface="Red Hat Text"/>
              </a:rPr>
              <a:t>•  Fix: the cache tier is deploy-time scope, shared and authoritative</a:t>
            </a:r>
          </a:p>
          <a:p>
            <a:pPr algn="l">
              <a:lnSpc>
                <a:spcPct val="115000"/>
              </a:lnSpc>
            </a:pPr>
            <a:r>
              <a:rPr sz="1500" b="0" i="0">
                <a:solidFill>
                  <a:srgbClr val="1A2B3C"/>
                </a:solidFill>
                <a:latin typeface="Red Hat Text"/>
              </a:rPr>
              <a:t>•  In-process caches are fine ONLY for derived/immutable data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07</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State externalization + outbox</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An order and its event written in one transaction; a relay publishes the outbox to Kafka with FOR UPDATE SKIP LOCKED; an idempotent consumer applies it. A crash mid-publish still yields an exactly-once effect.</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examples/statelessness/07-outbox-pattern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patterncatalyst.github.io/cpp-statelessness/examples/statelessness-07-outbox-pattern/</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§8</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The ephemeral filesystem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The container rootfs is scratch space — treat it that way.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ephemeral filesystem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ephemeral filesystem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read_only: true as a forcing function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Make ephemerality explicit</a:t>
            </a:r>
          </a:p>
          <a:p>
            <a:pPr algn="l">
              <a:lnSpc>
                <a:spcPct val="115000"/>
              </a:lnSpc>
            </a:pPr>
            <a:r>
              <a:rPr sz="1500" b="0" i="0">
                <a:solidFill>
                  <a:srgbClr val="1A2B3C"/>
                </a:solidFill>
                <a:latin typeface="Red Hat Text"/>
              </a:rPr>
              <a:t>•  rootfs read-only; /tmp on an explicit tmpfs; volumes for what must survive</a:t>
            </a:r>
          </a:p>
          <a:p>
            <a:pPr algn="l">
              <a:lnSpc>
                <a:spcPct val="115000"/>
              </a:lnSpc>
            </a:pPr>
            <a:r>
              <a:rPr sz="1500" b="0" i="0">
                <a:solidFill>
                  <a:srgbClr val="1A2B3C"/>
                </a:solidFill>
                <a:latin typeface="Red Hat Text"/>
              </a:rPr>
              <a:t>•  Logs go to stdout — the collector owns persistence, not the container</a:t>
            </a:r>
          </a:p>
          <a:p>
            <a:pPr algn="l">
              <a:lnSpc>
                <a:spcPct val="115000"/>
              </a:lnSpc>
            </a:pPr>
            <a:r>
              <a:rPr sz="1500" b="0" i="0">
                <a:solidFill>
                  <a:srgbClr val="1A2B3C"/>
                </a:solidFill>
                <a:latin typeface="Red Hat Text"/>
              </a:rPr>
              <a:t>•  C++ traps: spdlog's basic_logger_mt opens a file → EROFS on a read-only rootfs</a:t>
            </a:r>
          </a:p>
          <a:p>
            <a:pPr algn="l">
              <a:lnSpc>
                <a:spcPct val="115000"/>
              </a:lnSpc>
            </a:pPr>
            <a:r>
              <a:rPr sz="1500" b="0" i="0">
                <a:solidFill>
                  <a:srgbClr val="1A2B3C"/>
                </a:solidFill>
                <a:latin typeface="Red Hat Text"/>
              </a:rPr>
              <a:t>•  Fix: the stdout sink; never the default file logger in a container</a:t>
            </a:r>
          </a:p>
        </p:txBody>
      </p:sp>
      <p:pic>
        <p:nvPicPr>
          <p:cNvPr id="10" name="Picture 9" descr="08-ephemeral-filesystem.jpg"/>
          <p:cNvPicPr>
            <a:picLocks noChangeAspect="1"/>
          </p:cNvPicPr>
          <p:nvPr/>
        </p:nvPicPr>
        <p:blipFill>
          <a:blip r:embed="rId2"/>
          <a:stretch>
            <a:fillRect/>
          </a:stretch>
        </p:blipFill>
        <p:spPr>
          <a:xfrm>
            <a:off x="6217920" y="1554480"/>
            <a:ext cx="5486400" cy="2898678"/>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ephemeral filesystem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ephemeral filesystem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What goes where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 place for every write</a:t>
            </a:r>
          </a:p>
          <a:p>
            <a:pPr algn="l">
              <a:lnSpc>
                <a:spcPct val="115000"/>
              </a:lnSpc>
            </a:pPr>
            <a:r>
              <a:rPr sz="1500" b="0" i="0">
                <a:solidFill>
                  <a:srgbClr val="1A2B3C"/>
                </a:solidFill>
                <a:latin typeface="Red Hat Text"/>
              </a:rPr>
              <a:t>•  rootfs → read-only; the binary, libs, certs, nothing writable</a:t>
            </a:r>
          </a:p>
          <a:p>
            <a:pPr algn="l">
              <a:lnSpc>
                <a:spcPct val="115000"/>
              </a:lnSpc>
            </a:pPr>
            <a:r>
              <a:rPr sz="1500" b="0" i="0">
                <a:solidFill>
                  <a:srgbClr val="1A2B3C"/>
                </a:solidFill>
                <a:latin typeface="Red Hat Text"/>
              </a:rPr>
              <a:t>•  /tmp → an explicit tmpfs with a size cap; scratch only</a:t>
            </a:r>
          </a:p>
          <a:p>
            <a:pPr algn="l">
              <a:lnSpc>
                <a:spcPct val="115000"/>
              </a:lnSpc>
            </a:pPr>
            <a:r>
              <a:rPr sz="1500" b="0" i="0">
                <a:solidFill>
                  <a:srgbClr val="1A2B3C"/>
                </a:solidFill>
                <a:latin typeface="Red Hat Text"/>
              </a:rPr>
              <a:t>•  Persistent data → a volume (PVC), and only what must truly survive</a:t>
            </a:r>
          </a:p>
          <a:p>
            <a:pPr algn="l">
              <a:lnSpc>
                <a:spcPct val="115000"/>
              </a:lnSpc>
            </a:pPr>
            <a:r>
              <a:rPr sz="1500" b="0" i="0">
                <a:solidFill>
                  <a:srgbClr val="1A2B3C"/>
                </a:solidFill>
                <a:latin typeface="Red Hat Text"/>
              </a:rPr>
              <a:t>•  Config → env vars / mounted configmap, read-only</a:t>
            </a:r>
          </a:p>
          <a:p>
            <a:pPr algn="l">
              <a:lnSpc>
                <a:spcPct val="115000"/>
              </a:lnSpc>
            </a:pPr>
            <a:r>
              <a:rPr sz="1500" b="0" i="0">
                <a:solidFill>
                  <a:srgbClr val="1A2B3C"/>
                </a:solidFill>
                <a:latin typeface="Red Hat Text"/>
              </a:rPr>
              <a:t>•  Logs → stdout; never a file the container owns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ephemeral filesystem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ephemeral filesystem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Restart semantics as a feature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Ephemerality is the point, not a limitation</a:t>
            </a:r>
          </a:p>
          <a:p>
            <a:pPr algn="l">
              <a:lnSpc>
                <a:spcPct val="115000"/>
              </a:lnSpc>
            </a:pPr>
            <a:r>
              <a:rPr sz="1500" b="0" i="0">
                <a:solidFill>
                  <a:srgbClr val="1A2B3C"/>
                </a:solidFill>
                <a:latin typeface="Red Hat Text"/>
              </a:rPr>
              <a:t>•  A crash + restart returns a known-clean filesystem state</a:t>
            </a:r>
          </a:p>
          <a:p>
            <a:pPr algn="l">
              <a:lnSpc>
                <a:spcPct val="115000"/>
              </a:lnSpc>
            </a:pPr>
            <a:r>
              <a:rPr sz="1500" b="0" i="0">
                <a:solidFill>
                  <a:srgbClr val="1A2B3C"/>
                </a:solidFill>
                <a:latin typeface="Red Hat Text"/>
              </a:rPr>
              <a:t>•  No accreted local state to corrupt, fill the disk, or drift</a:t>
            </a:r>
          </a:p>
          <a:p>
            <a:pPr algn="l">
              <a:lnSpc>
                <a:spcPct val="115000"/>
              </a:lnSpc>
            </a:pPr>
            <a:r>
              <a:rPr sz="1500" b="0" i="0">
                <a:solidFill>
                  <a:srgbClr val="1A2B3C"/>
                </a:solidFill>
                <a:latin typeface="Red Hat Text"/>
              </a:rPr>
              <a:t>•  rootless Docker's UID mapping: writes you DID allow land correctly</a:t>
            </a:r>
          </a:p>
          <a:p>
            <a:pPr algn="l">
              <a:lnSpc>
                <a:spcPct val="115000"/>
              </a:lnSpc>
            </a:pPr>
            <a:r>
              <a:rPr sz="1500" b="0" i="0">
                <a:solidFill>
                  <a:srgbClr val="1A2B3C"/>
                </a:solidFill>
                <a:latin typeface="Red Hat Text"/>
              </a:rPr>
              <a:t>•  Kubernetes ephemeral-storage budgets cap the tmpfs + writable layers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08</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Ephemeral filesystem</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 read-only rootfs as the forcing function: the spdlog EROFS trap and the stdout-sink fix, ephemerality demonstrated across container restarts, and why scratch belongs on an explicit tmpfs.</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examples/statelessness/08-ephemeral-filesystem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patterncatalyst.github.io/cpp-statelessness/examples/statelessness-08-ephemeral-filesystem/</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§9</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Health checks &amp; graceful shutdown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Three probes, the gRPC health protocol, graceful shutdown.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Startup, liveness, readiness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Three probes, three questions</a:t>
            </a:r>
          </a:p>
          <a:p>
            <a:pPr algn="l">
              <a:lnSpc>
                <a:spcPct val="115000"/>
              </a:lnSpc>
            </a:pPr>
            <a:r>
              <a:rPr sz="1500" b="0" i="0">
                <a:solidFill>
                  <a:srgbClr val="1A2B3C"/>
                </a:solidFill>
                <a:latin typeface="Red Hat Text"/>
              </a:rPr>
              <a:t>•  Startup — "has it finished initializing?" (permissive, gates the others)</a:t>
            </a:r>
          </a:p>
          <a:p>
            <a:pPr algn="l">
              <a:lnSpc>
                <a:spcPct val="115000"/>
              </a:lnSpc>
            </a:pPr>
            <a:r>
              <a:rPr sz="1500" b="0" i="0">
                <a:solidFill>
                  <a:srgbClr val="1A2B3C"/>
                </a:solidFill>
                <a:latin typeface="Red Hat Text"/>
              </a:rPr>
              <a:t>•  Liveness — "is it deadlocked?" (narrow; failure means restart)</a:t>
            </a:r>
          </a:p>
          <a:p>
            <a:pPr algn="l">
              <a:lnSpc>
                <a:spcPct val="115000"/>
              </a:lnSpc>
            </a:pPr>
            <a:r>
              <a:rPr sz="1500" b="0" i="0">
                <a:solidFill>
                  <a:srgbClr val="1A2B3C"/>
                </a:solidFill>
                <a:latin typeface="Red Hat Text"/>
              </a:rPr>
              <a:t>•  Readiness — "should it get traffic?" (fine-grained; failure means drain)</a:t>
            </a:r>
          </a:p>
          <a:p>
            <a:pPr algn="l">
              <a:lnSpc>
                <a:spcPct val="115000"/>
              </a:lnSpc>
            </a:pPr>
            <a:r>
              <a:rPr sz="1500" b="0" i="0">
                <a:solidFill>
                  <a:srgbClr val="1A2B3C"/>
                </a:solidFill>
                <a:latin typeface="Red Hat Text"/>
              </a:rPr>
              <a:t>•  gRPC standard health protocol via HealthCheckServiceInterface</a:t>
            </a:r>
          </a:p>
        </p:txBody>
      </p:sp>
      <p:pic>
        <p:nvPicPr>
          <p:cNvPr id="10" name="Picture 9" descr="09-health-checks.jpg"/>
          <p:cNvPicPr>
            <a:picLocks noChangeAspect="1"/>
          </p:cNvPicPr>
          <p:nvPr/>
        </p:nvPicPr>
        <p:blipFill>
          <a:blip r:embed="rId2"/>
          <a:stretch>
            <a:fillRect/>
          </a:stretch>
        </p:blipFill>
        <p:spPr>
          <a:xfrm>
            <a:off x="6217920" y="1554480"/>
            <a:ext cx="5486400" cy="2898678"/>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graceful-shutdown sequence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SIGTERM to clean exit, in order</a:t>
            </a:r>
          </a:p>
          <a:p>
            <a:pPr algn="l">
              <a:lnSpc>
                <a:spcPct val="115000"/>
              </a:lnSpc>
            </a:pPr>
            <a:r>
              <a:rPr sz="1500" b="0" i="0">
                <a:solidFill>
                  <a:srgbClr val="1A2B3C"/>
                </a:solidFill>
                <a:latin typeface="Red Hat Text"/>
              </a:rPr>
              <a:t>•  Signal handler sets a flag only (async-signal-safe)</a:t>
            </a:r>
          </a:p>
          <a:p>
            <a:pPr algn="l">
              <a:lnSpc>
                <a:spcPct val="115000"/>
              </a:lnSpc>
            </a:pPr>
            <a:r>
              <a:rPr sz="1500" b="0" i="0">
                <a:solidFill>
                  <a:srgbClr val="1A2B3C"/>
                </a:solidFill>
                <a:latin typeface="Red Hat Text"/>
              </a:rPr>
              <a:t>•  A control thread flips readiness NOT_SERVING — the LB drains us</a:t>
            </a:r>
          </a:p>
          <a:p>
            <a:pPr algn="l">
              <a:lnSpc>
                <a:spcPct val="115000"/>
              </a:lnSpc>
            </a:pPr>
            <a:r>
              <a:rPr sz="1500" b="0" i="0">
                <a:solidFill>
                  <a:srgbClr val="1A2B3C"/>
                </a:solidFill>
                <a:latin typeface="Red Hat Text"/>
              </a:rPr>
              <a:t>•  server-&gt;Shutdown(deadline) lets in-flight RPCs finish</a:t>
            </a:r>
          </a:p>
          <a:p>
            <a:pPr algn="l">
              <a:lnSpc>
                <a:spcPct val="115000"/>
              </a:lnSpc>
            </a:pPr>
            <a:r>
              <a:rPr sz="1500" b="0" i="0">
                <a:solidFill>
                  <a:srgbClr val="1A2B3C"/>
                </a:solidFill>
                <a:latin typeface="Red Hat Text"/>
              </a:rPr>
              <a:t>•  Reverse-order destruction in main() — pools, channels, config</a:t>
            </a:r>
          </a:p>
          <a:p>
            <a:pPr algn="l">
              <a:lnSpc>
                <a:spcPct val="115000"/>
              </a:lnSpc>
            </a:pPr>
            <a:r>
              <a:rPr sz="1500" b="0" i="0">
                <a:solidFill>
                  <a:srgbClr val="1A2B3C"/>
                </a:solidFill>
                <a:latin typeface="Red Hat Text"/>
              </a:rPr>
              <a:t>•  std::stop_token cancels background workers cleanly (the threading section)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Separate port vs. same port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Where the probes listen</a:t>
            </a:r>
          </a:p>
          <a:p>
            <a:pPr algn="l">
              <a:lnSpc>
                <a:spcPct val="115000"/>
              </a:lnSpc>
            </a:pPr>
            <a:r>
              <a:rPr sz="1500" b="0" i="0">
                <a:solidFill>
                  <a:srgbClr val="1A2B3C"/>
                </a:solidFill>
                <a:latin typeface="Red Hat Text"/>
              </a:rPr>
              <a:t>•  Same port: the gRPC health service rides the main port — simplest</a:t>
            </a:r>
          </a:p>
          <a:p>
            <a:pPr algn="l">
              <a:lnSpc>
                <a:spcPct val="115000"/>
              </a:lnSpc>
            </a:pPr>
            <a:r>
              <a:rPr sz="1500" b="0" i="0">
                <a:solidFill>
                  <a:srgbClr val="1A2B3C"/>
                </a:solidFill>
                <a:latin typeface="Red Hat Text"/>
              </a:rPr>
              <a:t>•  Separate port: an HTTP /healthz for liveness, isolated from app load</a:t>
            </a:r>
          </a:p>
          <a:p>
            <a:pPr algn="l">
              <a:lnSpc>
                <a:spcPct val="115000"/>
              </a:lnSpc>
            </a:pPr>
            <a:r>
              <a:rPr sz="1500" b="0" i="0">
                <a:solidFill>
                  <a:srgbClr val="1A2B3C"/>
                </a:solidFill>
                <a:latin typeface="Red Hat Text"/>
              </a:rPr>
              <a:t>•  Hybrid (the 09 companion): HTTP liveness, gRPC readiness</a:t>
            </a:r>
          </a:p>
          <a:p>
            <a:pPr algn="l">
              <a:lnSpc>
                <a:spcPct val="115000"/>
              </a:lnSpc>
            </a:pPr>
            <a:r>
              <a:rPr sz="1500" b="0" i="0">
                <a:solidFill>
                  <a:srgbClr val="1A2B3C"/>
                </a:solidFill>
                <a:latin typeface="Red Hat Text"/>
              </a:rPr>
              <a:t>•  Separate-port liveness keeps answering even when the app pool is saturated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Health-check anti-patterns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How probes cause the outages they should prevent</a:t>
            </a:r>
          </a:p>
          <a:p>
            <a:pPr algn="l">
              <a:lnSpc>
                <a:spcPct val="115000"/>
              </a:lnSpc>
            </a:pPr>
            <a:r>
              <a:rPr sz="1500" b="0" i="0">
                <a:solidFill>
                  <a:srgbClr val="1A2B3C"/>
                </a:solidFill>
                <a:latin typeface="Red Hat Text"/>
              </a:rPr>
              <a:t>•  Liveness that checks dependencies → a DB blip restarts every replica</a:t>
            </a:r>
          </a:p>
          <a:p>
            <a:pPr algn="l">
              <a:lnSpc>
                <a:spcPct val="115000"/>
              </a:lnSpc>
            </a:pPr>
            <a:r>
              <a:rPr sz="1500" b="0" i="0">
                <a:solidFill>
                  <a:srgbClr val="1A2B3C"/>
                </a:solidFill>
                <a:latin typeface="Red Hat Text"/>
              </a:rPr>
              <a:t>•  Readiness that's too coarse → flapping in and out of rotation</a:t>
            </a:r>
          </a:p>
          <a:p>
            <a:pPr algn="l">
              <a:lnSpc>
                <a:spcPct val="115000"/>
              </a:lnSpc>
            </a:pPr>
            <a:r>
              <a:rPr sz="1500" b="0" i="0">
                <a:solidFill>
                  <a:srgbClr val="1A2B3C"/>
                </a:solidFill>
                <a:latin typeface="Red Hat Text"/>
              </a:rPr>
              <a:t>•  A probe heavier than a real request → the probe is the load</a:t>
            </a:r>
          </a:p>
          <a:p>
            <a:pPr algn="l">
              <a:lnSpc>
                <a:spcPct val="115000"/>
              </a:lnSpc>
            </a:pPr>
            <a:r>
              <a:rPr sz="1500" b="0" i="0">
                <a:solidFill>
                  <a:srgbClr val="1A2B3C"/>
                </a:solidFill>
                <a:latin typeface="Red Hat Text"/>
              </a:rPr>
              <a:t>•  No startup probe → liveness fires during a slow cold start, restart loop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09</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Health checks &amp; shutdown</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Staged startup (NOT_SERVING → SERVING), liveness vs readiness on separate ports, a SIGUSR1 readiness toggle, and the signal-safe graceful-shutdown sequence to a clean exit.</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examples/statelessness/09-health-checks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patterncatalyst.github.io/cpp-statelessness/examples/statelessness-09-health-checks/</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The gRPC end-to-end example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Every pattern composed in one order-pricing service.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gRPC end-to-end example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gRPC end-to-end example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What composes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Every prior section, in one main()</a:t>
            </a:r>
          </a:p>
          <a:p>
            <a:pPr algn="l">
              <a:lnSpc>
                <a:spcPct val="115000"/>
              </a:lnSpc>
            </a:pPr>
            <a:r>
              <a:rPr sz="1500" b="0" i="0">
                <a:solidFill>
                  <a:srgbClr val="1A2B3C"/>
                </a:solidFill>
                <a:latin typeface="Red Hat Text"/>
              </a:rPr>
              <a:t>•  Config parsed once (12-factor config); process-scoped pool + channel cache (process scope)</a:t>
            </a:r>
          </a:p>
          <a:p>
            <a:pPr algn="l">
              <a:lnSpc>
                <a:spcPct val="115000"/>
              </a:lnSpc>
            </a:pPr>
            <a:r>
              <a:rPr sz="1500" b="0" i="0">
                <a:solidFill>
                  <a:srgbClr val="1A2B3C"/>
                </a:solidFill>
                <a:latin typeface="Red Hat Text"/>
              </a:rPr>
              <a:t>•  RequestContext with a PMR arena per call (RAII + PMR)</a:t>
            </a:r>
          </a:p>
          <a:p>
            <a:pPr algn="l">
              <a:lnSpc>
                <a:spcPct val="115000"/>
              </a:lnSpc>
            </a:pPr>
            <a:r>
              <a:rPr sz="1500" b="0" i="0">
                <a:solidFill>
                  <a:srgbClr val="1A2B3C"/>
                </a:solidFill>
                <a:latin typeface="Red Hat Text"/>
              </a:rPr>
              <a:t>•  Handler throws grpc::Status; RAII cleans up; boundary translates (the RAII section)</a:t>
            </a:r>
          </a:p>
          <a:p>
            <a:pPr algn="l">
              <a:lnSpc>
                <a:spcPct val="115000"/>
              </a:lnSpc>
            </a:pPr>
            <a:r>
              <a:rPr sz="1500" b="0" i="0">
                <a:solidFill>
                  <a:srgbClr val="1A2B3C"/>
                </a:solidFill>
                <a:latin typeface="Red Hat Text"/>
              </a:rPr>
              <a:t>•  Deadline-propagated PostgreSQL + outbound gRPC tax call (threading + externalization)</a:t>
            </a:r>
          </a:p>
          <a:p>
            <a:pPr algn="l">
              <a:lnSpc>
                <a:spcPct val="115000"/>
              </a:lnSpc>
            </a:pPr>
            <a:r>
              <a:rPr sz="1500" b="0" i="0">
                <a:solidFill>
                  <a:srgbClr val="1A2B3C"/>
                </a:solidFill>
                <a:latin typeface="Red Hat Text"/>
              </a:rPr>
              <a:t>•  Idempotency on the client key; staged health + graceful shutdown (externalization + health)</a:t>
            </a:r>
          </a:p>
        </p:txBody>
      </p:sp>
      <p:pic>
        <p:nvPicPr>
          <p:cNvPr id="10" name="Picture 9" descr="10-grpc-microservices.jpg"/>
          <p:cNvPicPr>
            <a:picLocks noChangeAspect="1"/>
          </p:cNvPicPr>
          <p:nvPr/>
        </p:nvPicPr>
        <p:blipFill>
          <a:blip r:embed="rId2"/>
          <a:stretch>
            <a:fillRect/>
          </a:stretch>
        </p:blipFill>
        <p:spPr>
          <a:xfrm>
            <a:off x="6217920" y="1554480"/>
            <a:ext cx="5486400" cy="2898678"/>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gRPC end-to-end example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gRPC end-to-end example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Faithful in architecture, lean in dependencies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What the runnable companion realizes vs. designs</a:t>
            </a:r>
          </a:p>
          <a:p>
            <a:pPr algn="l">
              <a:lnSpc>
                <a:spcPct val="115000"/>
              </a:lnSpc>
            </a:pPr>
            <a:r>
              <a:rPr sz="1500" b="0" i="0">
                <a:solidFill>
                  <a:srgbClr val="1A2B3C"/>
                </a:solidFill>
                <a:latin typeface="Red Hat Text"/>
              </a:rPr>
              <a:t>•  PostgreSQL via libpq, not libpqxx (its bundled CMake breaks the toolchain)</a:t>
            </a:r>
          </a:p>
          <a:p>
            <a:pPr algn="l">
              <a:lnSpc>
                <a:spcPct val="115000"/>
              </a:lnSpc>
            </a:pPr>
            <a:r>
              <a:rPr sz="1500" b="0" i="0">
                <a:solidFill>
                  <a:srgbClr val="1A2B3C"/>
                </a:solidFill>
                <a:latin typeface="Red Hat Text"/>
              </a:rPr>
              <a:t>•  Price lookup straight to PostgreSQL; Redis cache-aside marked as a seam</a:t>
            </a:r>
          </a:p>
          <a:p>
            <a:pPr algn="l">
              <a:lnSpc>
                <a:spcPct val="115000"/>
              </a:lnSpc>
            </a:pPr>
            <a:r>
              <a:rPr sz="1500" b="0" i="0">
                <a:solidFill>
                  <a:srgbClr val="1A2B3C"/>
                </a:solidFill>
                <a:latin typeface="Red Hat Text"/>
              </a:rPr>
              <a:t>•  OpenTelemetry is a documented seam — the companion emits NO spans</a:t>
            </a:r>
          </a:p>
          <a:p>
            <a:pPr algn="l">
              <a:lnSpc>
                <a:spcPct val="115000"/>
              </a:lnSpc>
            </a:pPr>
            <a:r>
              <a:rPr sz="1500" b="0" i="0">
                <a:solidFill>
                  <a:srgbClr val="1A2B3C"/>
                </a:solidFill>
                <a:latin typeface="Red Hat Text"/>
              </a:rPr>
              <a:t>•  Sync gRPC API, not callback; composition identical, migration mechanical</a:t>
            </a:r>
          </a:p>
          <a:p>
            <a:pPr algn="l">
              <a:lnSpc>
                <a:spcPct val="115000"/>
              </a:lnSpc>
            </a:pPr>
            <a:r>
              <a:rPr sz="1400" b="0" i="1">
                <a:solidFill>
                  <a:srgbClr val="90A4AE"/>
                </a:solidFill>
                <a:latin typeface="Red Hat Text"/>
              </a:rPr>
              <a:t>The architecture and composition are faithful to the doc; the realized backends stay on the verified stack.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gRPC end-to-end example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gRPC end-to-end example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main() in twelve numbered steps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The wiring is mechanical and reusable</a:t>
            </a:r>
          </a:p>
          <a:p>
            <a:pPr algn="l">
              <a:lnSpc>
                <a:spcPct val="115000"/>
              </a:lnSpc>
            </a:pPr>
            <a:r>
              <a:rPr sz="1500" b="0" i="0">
                <a:solidFill>
                  <a:srgbClr val="1A2B3C"/>
                </a:solidFill>
                <a:latin typeface="Red Hat Text"/>
              </a:rPr>
              <a:t>•  Parse config → detect CPU budget → size pools</a:t>
            </a:r>
          </a:p>
          <a:p>
            <a:pPr algn="l">
              <a:lnSpc>
                <a:spcPct val="115000"/>
              </a:lnSpc>
            </a:pPr>
            <a:r>
              <a:rPr sz="1500" b="0" i="0">
                <a:solidFill>
                  <a:srgbClr val="1A2B3C"/>
                </a:solidFill>
                <a:latin typeface="Red Hat Text"/>
              </a:rPr>
              <a:t>•  Construct process-scoped state: pool, channel cache, service</a:t>
            </a:r>
          </a:p>
          <a:p>
            <a:pPr algn="l">
              <a:lnSpc>
                <a:spcPct val="115000"/>
              </a:lnSpc>
            </a:pPr>
            <a:r>
              <a:rPr sz="1500" b="0" i="0">
                <a:solidFill>
                  <a:srgbClr val="1A2B3C"/>
                </a:solidFill>
                <a:latin typeface="Red Hat Text"/>
              </a:rPr>
              <a:t>•  Build the server, health NOT_SERVING, warm, flip to SERVING</a:t>
            </a:r>
          </a:p>
          <a:p>
            <a:pPr algn="l">
              <a:lnSpc>
                <a:spcPct val="115000"/>
              </a:lnSpc>
            </a:pPr>
            <a:r>
              <a:rPr sz="1500" b="0" i="0">
                <a:solidFill>
                  <a:srgbClr val="1A2B3C"/>
                </a:solidFill>
                <a:latin typeface="Red Hat Text"/>
              </a:rPr>
              <a:t>•  Install the signal handler, start workers, Wait(), drain, exit 0</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const Config cfg = parse_config();        // 1</a:t>
            </a:r>
          </a:p>
          <a:p>
            <a:r>
              <a:rPr sz="1200">
                <a:solidFill>
                  <a:srgbClr val="F4F4F4"/>
                </a:solidFill>
                <a:latin typeface="Red Hat Mono"/>
              </a:rPr>
              <a:t>const double cpu = cgroup_cpu().value_or(  // 2</a:t>
            </a:r>
          </a:p>
          <a:p>
            <a:r>
              <a:rPr sz="1200">
                <a:solidFill>
                  <a:srgbClr val="F4F4F4"/>
                </a:solidFill>
                <a:latin typeface="Red Hat Mono"/>
              </a:rPr>
              <a:t>    hardware_concurrency());</a:t>
            </a:r>
          </a:p>
          <a:p>
            <a:r>
              <a:rPr sz="1200">
                <a:solidFill>
                  <a:srgbClr val="F4F4F4"/>
                </a:solidFill>
                <a:latin typeface="Red Hat Mono"/>
              </a:rPr>
              <a:t>PgPool pg{cfg.pg_conninfo, cfg.pool};      // 3</a:t>
            </a:r>
          </a:p>
          <a:p>
            <a:r>
              <a:rPr sz="1200">
                <a:solidFill>
                  <a:srgbClr val="F4F4F4"/>
                </a:solidFill>
                <a:latin typeface="Red Hat Mono"/>
              </a:rPr>
              <a:t>ChannelCache channels{};                   // 4</a:t>
            </a:r>
          </a:p>
          <a:p>
            <a:r>
              <a:rPr sz="1200">
                <a:solidFill>
                  <a:srgbClr val="F4F4F4"/>
                </a:solidFill>
                <a:latin typeface="Red Hat Mono"/>
              </a:rPr>
              <a:t>PricingService svc{cfg, pg, channels};     // 5</a:t>
            </a:r>
          </a:p>
          <a:p>
            <a:r>
              <a:rPr sz="1200">
                <a:solidFill>
                  <a:srgbClr val="F4F4F4"/>
                </a:solidFill>
                <a:latin typeface="Red Hat Mono"/>
              </a:rPr>
              <a:t>auto server = build_server(svc, cfg);      // 6</a:t>
            </a:r>
          </a:p>
          <a:p>
            <a:r>
              <a:rPr sz="1200">
                <a:solidFill>
                  <a:srgbClr val="F4F4F4"/>
                </a:solidFill>
                <a:latin typeface="Red Hat Mono"/>
              </a:rPr>
              <a:t>health-&gt;Set("", NOT_SERVING); warm(pg);    // 7-8</a:t>
            </a:r>
          </a:p>
          <a:p>
            <a:r>
              <a:rPr sz="1200">
                <a:solidFill>
                  <a:srgbClr val="F4F4F4"/>
                </a:solidFill>
                <a:latin typeface="Red Hat Mono"/>
              </a:rPr>
              <a:t>health-&gt;Set("", SERVING);                  // 9</a:t>
            </a:r>
          </a:p>
          <a:p>
            <a:r>
              <a:rPr sz="1200">
                <a:solidFill>
                  <a:srgbClr val="F4F4F4"/>
                </a:solidFill>
                <a:latin typeface="Red Hat Mono"/>
              </a:rPr>
              <a:t>install_signal_handler(...);               // 10</a:t>
            </a:r>
          </a:p>
          <a:p>
            <a:r>
              <a:rPr sz="1200">
                <a:solidFill>
                  <a:srgbClr val="F4F4F4"/>
                </a:solidFill>
                <a:latin typeface="Red Hat Mono"/>
              </a:rPr>
              <a:t>server-&gt;Wait();                            // 11</a:t>
            </a:r>
          </a:p>
          <a:p>
            <a:r>
              <a:rPr sz="1200">
                <a:solidFill>
                  <a:srgbClr val="F4F4F4"/>
                </a:solidFill>
                <a:latin typeface="Red Hat Mono"/>
              </a:rPr>
              <a:t>return 0;  // reverse-order teardown       // 12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gRPC end-to-end example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The gRPC end-to-end example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Error translation at the boundary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Helpers throw; the handler translates</a:t>
            </a:r>
          </a:p>
          <a:p>
            <a:pPr algn="l">
              <a:lnSpc>
                <a:spcPct val="115000"/>
              </a:lnSpc>
            </a:pPr>
            <a:r>
              <a:rPr sz="1500" b="0" i="0">
                <a:solidFill>
                  <a:srgbClr val="1A2B3C"/>
                </a:solidFill>
                <a:latin typeface="Red Hat Text"/>
              </a:rPr>
              <a:t>•  Helpers throw grpc::Status for protocol errors (deadline, unavailable, not-found)</a:t>
            </a:r>
          </a:p>
          <a:p>
            <a:pPr algn="l">
              <a:lnSpc>
                <a:spcPct val="115000"/>
              </a:lnSpc>
            </a:pPr>
            <a:r>
              <a:rPr sz="1500" b="0" i="0">
                <a:solidFill>
                  <a:srgbClr val="1A2B3C"/>
                </a:solidFill>
                <a:latin typeface="Red Hat Text"/>
              </a:rPr>
              <a:t>•  Helpers throw std::exception for bugs</a:t>
            </a:r>
          </a:p>
          <a:p>
            <a:pPr algn="l">
              <a:lnSpc>
                <a:spcPct val="115000"/>
              </a:lnSpc>
            </a:pPr>
            <a:r>
              <a:rPr sz="1500" b="0" i="0">
                <a:solidFill>
                  <a:srgbClr val="1A2B3C"/>
                </a:solidFill>
                <a:latin typeface="Red Hat Text"/>
              </a:rPr>
              <a:t>•  The handler's single try/catch maps both to the wire status</a:t>
            </a:r>
          </a:p>
          <a:p>
            <a:pPr algn="l">
              <a:lnSpc>
                <a:spcPct val="115000"/>
              </a:lnSpc>
            </a:pPr>
            <a:r>
              <a:rPr sz="1500" b="0" i="0">
                <a:solidFill>
                  <a:srgbClr val="1A2B3C"/>
                </a:solidFill>
                <a:latin typeface="Red Hat Text"/>
              </a:rPr>
              <a:t>•  RAII runs all cleanup regardless of which exception propagates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10</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gRPC end-to-end example</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An order-pricing service composing every prior pattern, calling a tax service over gRPC. Three acts: a taxable order, a tax-exempt short-circuit, and an idempotent replay returning the identical order id.</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examples/statelessness/10-grpc-microservices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patterncatalyst.github.io/cpp-statelessness/examples/statelessness-10-grpc-microservices/</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Build tooling &amp; vendored helpers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Conan, CMake, the toolchain — and the helpers made runnable.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build stack</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Hermetic, pinned, reproducible</a:t>
            </a:r>
          </a:p>
          <a:p>
            <a:pPr algn="l">
              <a:lnSpc>
                <a:spcPct val="115000"/>
              </a:lnSpc>
            </a:pPr>
            <a:r>
              <a:rPr sz="1500" b="0" i="0">
                <a:solidFill>
                  <a:srgbClr val="1A2B3C"/>
                </a:solidFill>
                <a:latin typeface="Red Hat Text"/>
              </a:rPr>
              <a:t>•  Conan 2.x — explicit version pins, dev + release profiles, a lockfile</a:t>
            </a:r>
          </a:p>
          <a:p>
            <a:pPr algn="l">
              <a:lnSpc>
                <a:spcPct val="115000"/>
              </a:lnSpc>
            </a:pPr>
            <a:r>
              <a:rPr sz="1500" b="0" i="0">
                <a:solidFill>
                  <a:srgbClr val="1A2B3C"/>
                </a:solidFill>
                <a:latin typeface="Red Hat Text"/>
              </a:rPr>
              <a:t>•  CMake 3.27+ with Ninja; Conan-generated presets wire the toolchain</a:t>
            </a:r>
          </a:p>
          <a:p>
            <a:pPr algn="l">
              <a:lnSpc>
                <a:spcPct val="115000"/>
              </a:lnSpc>
            </a:pPr>
            <a:r>
              <a:rPr sz="1500" b="0" i="0">
                <a:solidFill>
                  <a:srgbClr val="1A2B3C"/>
                </a:solidFill>
                <a:latin typeface="Red Hat Text"/>
              </a:rPr>
              <a:t>•  GCC 14 / libstdc++ for C++23 breadth (Clang 18 + libc++ equivalent)</a:t>
            </a:r>
          </a:p>
          <a:p>
            <a:pPr algn="l">
              <a:lnSpc>
                <a:spcPct val="115000"/>
              </a:lnSpc>
            </a:pPr>
            <a:r>
              <a:rPr sz="1500" b="0" i="0">
                <a:solidFill>
                  <a:srgbClr val="1A2B3C"/>
                </a:solidFill>
                <a:latin typeface="Red Hat Text"/>
              </a:rPr>
              <a:t>•  Multi-stage Containerfile: full toolchain builder, minimal runtime</a:t>
            </a:r>
          </a:p>
          <a:p>
            <a:pPr algn="l">
              <a:lnSpc>
                <a:spcPct val="115000"/>
              </a:lnSpc>
            </a:pPr>
            <a:r>
              <a:rPr sz="1500" b="0" i="0">
                <a:solidFill>
                  <a:srgbClr val="1A2B3C"/>
                </a:solidFill>
                <a:latin typeface="Red Hat Text"/>
              </a:rPr>
              <a:t>•  Dev profile wires AddressSanitizer — catches the PMR arena trap early</a:t>
            </a:r>
          </a:p>
        </p:txBody>
      </p:sp>
      <p:pic>
        <p:nvPicPr>
          <p:cNvPr id="10" name="Picture 9" descr="11-build-tooling.jpg"/>
          <p:cNvPicPr>
            <a:picLocks noChangeAspect="1"/>
          </p:cNvPicPr>
          <p:nvPr/>
        </p:nvPicPr>
        <p:blipFill>
          <a:blip r:embed="rId2"/>
          <a:stretch>
            <a:fillRect/>
          </a:stretch>
        </p:blipFill>
        <p:spPr>
          <a:xfrm>
            <a:off x="6217920" y="1554480"/>
            <a:ext cx="5486400" cy="2898678"/>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cgroup helper, in one line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Why the vendored helper exists</a:t>
            </a:r>
          </a:p>
          <a:p>
            <a:pPr algn="l">
              <a:lnSpc>
                <a:spcPct val="115000"/>
              </a:lnSpc>
            </a:pPr>
            <a:r>
              <a:rPr sz="1500" b="0" i="0">
                <a:solidFill>
                  <a:srgbClr val="1A2B3C"/>
                </a:solidFill>
                <a:latin typeface="Red Hat Text"/>
              </a:rPr>
              <a:t>•  hardware_concurrency() reports host cores — wrong under a cgroup</a:t>
            </a:r>
          </a:p>
          <a:p>
            <a:pPr algn="l">
              <a:lnSpc>
                <a:spcPct val="115000"/>
              </a:lnSpc>
            </a:pPr>
            <a:r>
              <a:rPr sz="1500" b="0" i="0">
                <a:solidFill>
                  <a:srgbClr val="1A2B3C"/>
                </a:solidFill>
                <a:latin typeface="Red Hat Text"/>
              </a:rPr>
              <a:t>•  cpu_limit_cores() reads cgroup v2 cpu.max → the real budget</a:t>
            </a:r>
          </a:p>
          <a:p>
            <a:pPr algn="l">
              <a:lnSpc>
                <a:spcPct val="115000"/>
              </a:lnSpc>
            </a:pPr>
            <a:r>
              <a:rPr sz="1500" b="0" i="0">
                <a:solidFill>
                  <a:srgbClr val="1A2B3C"/>
                </a:solidFill>
                <a:latin typeface="Red Hat Text"/>
              </a:rPr>
              <a:t>•  Under --cpus=0.5: helper reads 0.5 while hardware_concurrency() still says 22</a:t>
            </a:r>
          </a:p>
          <a:p>
            <a:pPr algn="l">
              <a:lnSpc>
                <a:spcPct val="115000"/>
              </a:lnSpc>
            </a:pPr>
            <a:r>
              <a:rPr sz="1500" b="0" i="0">
                <a:solidFill>
                  <a:srgbClr val="1A2B3C"/>
                </a:solidFill>
                <a:latin typeface="Red Hat Text"/>
              </a:rPr>
              <a:t>•  That gap is the whole reason to read the cgroup — and Demo 11 makes it visible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C++23 feature support is a version question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The toolchain decides what you can use</a:t>
            </a:r>
          </a:p>
          <a:p>
            <a:pPr algn="l">
              <a:lnSpc>
                <a:spcPct val="115000"/>
              </a:lnSpc>
            </a:pPr>
            <a:r>
              <a:rPr sz="1500" b="0" i="0">
                <a:solidFill>
                  <a:srgbClr val="1A2B3C"/>
                </a:solidFill>
                <a:latin typeface="Red Hat Text"/>
              </a:rPr>
              <a:t>•  std::expected — GCC 12+, Clang 16+</a:t>
            </a:r>
          </a:p>
          <a:p>
            <a:pPr algn="l">
              <a:lnSpc>
                <a:spcPct val="115000"/>
              </a:lnSpc>
            </a:pPr>
            <a:r>
              <a:rPr sz="1500" b="0" i="0">
                <a:solidFill>
                  <a:srgbClr val="1A2B3C"/>
                </a:solidFill>
                <a:latin typeface="Red Hat Text"/>
              </a:rPr>
              <a:t>•  &lt;stacktrace&gt; — GCC 14+ (link libstdc++_libbacktrace), Clang 18+</a:t>
            </a:r>
          </a:p>
          <a:p>
            <a:pPr algn="l">
              <a:lnSpc>
                <a:spcPct val="115000"/>
              </a:lnSpc>
            </a:pPr>
            <a:r>
              <a:rPr sz="1500" b="0" i="0">
                <a:solidFill>
                  <a:srgbClr val="1A2B3C"/>
                </a:solidFill>
                <a:latin typeface="Red Hat Text"/>
              </a:rPr>
              <a:t>•  std::flat_map / flat_set — GCC 15+; not in libc++ yet (use absl::btree_map)</a:t>
            </a:r>
          </a:p>
          <a:p>
            <a:pPr algn="l">
              <a:lnSpc>
                <a:spcPct val="115000"/>
              </a:lnSpc>
            </a:pPr>
            <a:r>
              <a:rPr sz="1500" b="0" i="0">
                <a:solidFill>
                  <a:srgbClr val="1A2B3C"/>
                </a:solidFill>
                <a:latin typeface="Red Hat Text"/>
              </a:rPr>
              <a:t>•  std::print / println — GCC 14+, Clang 18+ (partial)</a:t>
            </a:r>
          </a:p>
          <a:p>
            <a:pPr algn="l">
              <a:lnSpc>
                <a:spcPct val="115000"/>
              </a:lnSpc>
            </a:pPr>
            <a:r>
              <a:rPr sz="1500" b="0" i="1">
                <a:solidFill>
                  <a:srgbClr val="90A4AE"/>
                </a:solidFill>
                <a:latin typeface="Red Hat Text"/>
              </a:rPr>
              <a:t>GCC 14 + libstdc++ on glibc 2.35+ is the recommended 2026 baseline.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Build-tooling gotchas worth memorizing</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The traps that cost an afternoon</a:t>
            </a:r>
          </a:p>
          <a:p>
            <a:pPr algn="l">
              <a:lnSpc>
                <a:spcPct val="115000"/>
              </a:lnSpc>
            </a:pPr>
            <a:r>
              <a:rPr sz="1500" b="0" i="0">
                <a:solidFill>
                  <a:srgbClr val="1A2B3C"/>
                </a:solidFill>
                <a:latin typeface="Red Hat Text"/>
              </a:rPr>
              <a:t>•  protobuf and gRPC versions MUST match across Conan deps → else duplicate symbols</a:t>
            </a:r>
          </a:p>
          <a:p>
            <a:pPr algn="l">
              <a:lnSpc>
                <a:spcPct val="115000"/>
              </a:lnSpc>
            </a:pPr>
            <a:r>
              <a:rPr sz="1500" b="0" i="0">
                <a:solidFill>
                  <a:srgbClr val="1A2B3C"/>
                </a:solidFill>
                <a:latin typeface="Red Hat Text"/>
              </a:rPr>
              <a:t>•  Always compiler.libcxx=libstdc++11 (the post-GCC-5 ABI); mixing crashes</a:t>
            </a:r>
          </a:p>
          <a:p>
            <a:pPr algn="l">
              <a:lnSpc>
                <a:spcPct val="115000"/>
              </a:lnSpc>
            </a:pPr>
            <a:r>
              <a:rPr sz="1500" b="0" i="0">
                <a:solidFill>
                  <a:srgbClr val="1A2B3C"/>
                </a:solidFill>
                <a:latin typeface="Red Hat Text"/>
              </a:rPr>
              <a:t>•  Run CMake via the Conan preset/toolchain or find_package can't see deps</a:t>
            </a:r>
          </a:p>
          <a:p>
            <a:pPr algn="l">
              <a:lnSpc>
                <a:spcPct val="115000"/>
              </a:lnSpc>
            </a:pPr>
            <a:r>
              <a:rPr sz="1500" b="0" i="0">
                <a:solidFill>
                  <a:srgbClr val="1A2B3C"/>
                </a:solidFill>
                <a:latin typeface="Red Hat Text"/>
              </a:rPr>
              <a:t>•  libpqxx's bundled CMake breaks this toolchain → use libpq (G-67)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11</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Demo — Vendored helpers</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cgroup_helper and psi_reader built as static libraries, unit-tested with GoogleTest over their pure parsers, and a binary swept under --cpus / --memory caps so cpu_limit_cores() is shown tracking the cgroup while hardware_concurrency() does not.</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examples/statelessness/11-build-tooling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patterncatalyst.github.io/cpp-statelessness/examples/statelessness-11-build-tooling/</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Red Hat Display"/>
              </a:rPr>
              <a:t>The whole arc, runnable.</a:t>
            </a:r>
          </a:p>
        </p:txBody>
      </p:sp>
      <p:sp>
        <p:nvSpPr>
          <p:cNvPr id="3" name="TextBox 2"/>
          <p:cNvSpPr txBox="1"/>
          <p:nvPr/>
        </p:nvSpPr>
        <p:spPr>
          <a:xfrm>
            <a:off x="914400" y="2560320"/>
            <a:ext cx="10332720" cy="2377440"/>
          </a:xfrm>
          <a:prstGeom prst="rect">
            <a:avLst/>
          </a:prstGeom>
          <a:noFill/>
        </p:spPr>
        <p:txBody>
          <a:bodyPr wrap="square" anchor="t" lIns="45720" rIns="45720">
            <a:spAutoFit/>
          </a:bodyPr>
          <a:lstStyle/>
          <a:p>
            <a:pPr algn="l">
              <a:lnSpc>
                <a:spcPct val="115000"/>
              </a:lnSpc>
            </a:pPr>
            <a:r>
              <a:rPr sz="1800" b="0" i="0">
                <a:solidFill>
                  <a:srgbClr val="F4F4F4"/>
                </a:solidFill>
                <a:latin typeface="Red Hat Text"/>
              </a:rPr>
              <a:t>Statelessness is a deployment posture; the same binary earns it by where it keeps state.</a:t>
            </a:r>
          </a:p>
          <a:p>
            <a:pPr algn="l">
              <a:lnSpc>
                <a:spcPct val="115000"/>
              </a:lnSpc>
              <a:spcBef>
                <a:spcPts val="1000"/>
              </a:spcBef>
            </a:pPr>
            <a:r>
              <a:rPr sz="1800" b="0" i="0">
                <a:solidFill>
                  <a:srgbClr val="F4F4F4"/>
                </a:solidFill>
                <a:latin typeface="Red Hat Text"/>
              </a:rPr>
              <a:t>Request scope → RAII + PMR. Process scope → owned in main(). Authoritative state → externalized.</a:t>
            </a:r>
          </a:p>
          <a:p>
            <a:pPr algn="l">
              <a:lnSpc>
                <a:spcPct val="115000"/>
              </a:lnSpc>
              <a:spcBef>
                <a:spcPts val="1000"/>
              </a:spcBef>
            </a:pPr>
            <a:r>
              <a:rPr sz="1800" b="0" i="0">
                <a:solidFill>
                  <a:srgbClr val="EE0000"/>
                </a:solidFill>
                <a:latin typeface="Red Hat Text"/>
              </a:rPr>
              <a:t>It all composes in the capstone — and examples 02–11 are host-verified on Fedora 44.</a:t>
            </a:r>
          </a:p>
        </p:txBody>
      </p:sp>
      <p:sp>
        <p:nvSpPr>
          <p:cNvPr id="4" name="TextBox 3"/>
          <p:cNvSpPr txBox="1"/>
          <p:nvPr/>
        </p:nvSpPr>
        <p:spPr>
          <a:xfrm>
            <a:off x="914400" y="5120640"/>
            <a:ext cx="10332720" cy="457200"/>
          </a:xfrm>
          <a:prstGeom prst="rect">
            <a:avLst/>
          </a:prstGeom>
          <a:noFill/>
        </p:spPr>
        <p:txBody>
          <a:bodyPr wrap="square" anchor="t" lIns="45720" rIns="45720">
            <a:spAutoFit/>
          </a:bodyPr>
          <a:lstStyle/>
          <a:p>
            <a:pPr algn="l"/>
            <a:r>
              <a:rPr sz="1600" b="0" i="0">
                <a:solidFill>
                  <a:srgbClr val="8A8A8A"/>
                </a:solidFill>
                <a:latin typeface="Red Hat Text"/>
              </a:rPr>
              <a:t>Read the compendium  •  run the demos  •  the source is on the repo</a:t>
            </a:r>
          </a:p>
        </p:txBody>
      </p:sp>
      <p:sp>
        <p:nvSpPr>
          <p:cNvPr id="5" name="TextBox 4"/>
          <p:cNvSpPr txBox="1"/>
          <p:nvPr/>
        </p:nvSpPr>
        <p:spPr>
          <a:xfrm>
            <a:off x="914400" y="585216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github.com/patterncatalyst/cpp-statelessness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TextBox 1"/>
          <p:cNvSpPr txBox="1"/>
          <p:nvPr/>
        </p:nvSpPr>
        <p:spPr>
          <a:xfrm>
            <a:off x="566927" y="384047"/>
            <a:ext cx="11055095" cy="292607"/>
          </a:xfrm>
          <a:prstGeom prst="rect">
            <a:avLst/>
          </a:prstGeom>
          <a:noFill/>
        </p:spPr>
        <p:txBody>
          <a:bodyPr wrap="square" lIns="0" rIns="0" tIns="0" bIns="0" anchor="ctr">
            <a:spAutoFit/>
          </a:bodyPr>
          <a:lstStyle/>
          <a:p>
            <a:pPr algn="l"/>
            <a:r>
              <a:rPr sz="1199" b="1" i="0" spc="399">
                <a:solidFill>
                  <a:srgbClr val="EE0000"/>
                </a:solidFill>
                <a:latin typeface="Overpass"/>
                <a:cs typeface="Overpass"/>
              </a:rPr>
              <a:t>SCAN TO EXPLORE</a:t>
            </a:r>
          </a:p>
        </p:txBody>
      </p:sp>
      <p:sp>
        <p:nvSpPr>
          <p:cNvPr id="3" name="TextBox 2"/>
          <p:cNvSpPr txBox="1"/>
          <p:nvPr/>
        </p:nvSpPr>
        <p:spPr>
          <a:xfrm>
            <a:off x="566927" y="676655"/>
            <a:ext cx="11055095" cy="1005839"/>
          </a:xfrm>
          <a:prstGeom prst="rect">
            <a:avLst/>
          </a:prstGeom>
          <a:noFill/>
        </p:spPr>
        <p:txBody>
          <a:bodyPr wrap="square" lIns="0" rIns="0" tIns="0" bIns="0" anchor="t">
            <a:spAutoFit/>
          </a:bodyPr>
          <a:lstStyle/>
          <a:p>
            <a:pPr algn="l"/>
            <a:r>
              <a:rPr sz="2999" b="1" i="0">
                <a:solidFill>
                  <a:srgbClr val="151515"/>
                </a:solidFill>
                <a:latin typeface="Overpass"/>
                <a:cs typeface="Overpass"/>
              </a:rPr>
              <a:t>Take it with you</a:t>
            </a:r>
          </a:p>
        </p:txBody>
      </p:sp>
      <p:pic>
        <p:nvPicPr>
          <p:cNvPr id="4" name="Picture 3" descr="qr-cpps-site.png"/>
          <p:cNvPicPr>
            <a:picLocks noChangeAspect="1"/>
          </p:cNvPicPr>
          <p:nvPr/>
        </p:nvPicPr>
        <p:blipFill>
          <a:blip r:embed="rId2"/>
          <a:stretch>
            <a:fillRect/>
          </a:stretch>
        </p:blipFill>
        <p:spPr>
          <a:xfrm>
            <a:off x="2103119" y="1627631"/>
            <a:ext cx="2834639" cy="2834639"/>
          </a:xfrm>
          <a:prstGeom prst="rect">
            <a:avLst/>
          </a:prstGeom>
        </p:spPr>
      </p:pic>
      <p:sp>
        <p:nvSpPr>
          <p:cNvPr id="5" name="TextBox 4"/>
          <p:cNvSpPr txBox="1"/>
          <p:nvPr/>
        </p:nvSpPr>
        <p:spPr>
          <a:xfrm>
            <a:off x="1417319" y="4553711"/>
            <a:ext cx="4206239"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The site</a:t>
            </a:r>
          </a:p>
        </p:txBody>
      </p:sp>
      <p:sp>
        <p:nvSpPr>
          <p:cNvPr id="6" name="TextBox 5"/>
          <p:cNvSpPr txBox="1"/>
          <p:nvPr/>
        </p:nvSpPr>
        <p:spPr>
          <a:xfrm>
            <a:off x="1325879" y="4937759"/>
            <a:ext cx="4389119" cy="658367"/>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Chapters, the runnable C++ examples, and the benchmarks</a:t>
            </a:r>
          </a:p>
        </p:txBody>
      </p:sp>
      <p:sp>
        <p:nvSpPr>
          <p:cNvPr id="7" name="TextBox 6"/>
          <p:cNvSpPr txBox="1"/>
          <p:nvPr/>
        </p:nvSpPr>
        <p:spPr>
          <a:xfrm>
            <a:off x="1325879" y="5596127"/>
            <a:ext cx="4389119" cy="292607"/>
          </a:xfrm>
          <a:prstGeom prst="rect">
            <a:avLst/>
          </a:prstGeom>
          <a:noFill/>
        </p:spPr>
        <p:txBody>
          <a:bodyPr wrap="square" lIns="0" rIns="0" tIns="0" bIns="0" anchor="ctr">
            <a:spAutoFit/>
          </a:bodyPr>
          <a:lstStyle/>
          <a:p>
            <a:pPr algn="ctr"/>
            <a:r>
              <a:rPr sz="999" b="0" i="0">
                <a:solidFill>
                  <a:srgbClr val="EE0000"/>
                </a:solidFill>
                <a:latin typeface="Red Hat Mono"/>
                <a:cs typeface="Red Hat Mono"/>
              </a:rPr>
              <a:t>patterncatalyst.github.io/cpp-statelessness</a:t>
            </a:r>
          </a:p>
        </p:txBody>
      </p:sp>
      <p:pic>
        <p:nvPicPr>
          <p:cNvPr id="8" name="Picture 7" descr="qr-hub.png"/>
          <p:cNvPicPr>
            <a:picLocks noChangeAspect="1"/>
          </p:cNvPicPr>
          <p:nvPr/>
        </p:nvPicPr>
        <p:blipFill>
          <a:blip r:embed="rId3"/>
          <a:stretch>
            <a:fillRect/>
          </a:stretch>
        </p:blipFill>
        <p:spPr>
          <a:xfrm>
            <a:off x="7251191" y="1627631"/>
            <a:ext cx="2834639" cy="2834639"/>
          </a:xfrm>
          <a:prstGeom prst="rect">
            <a:avLst/>
          </a:prstGeom>
        </p:spPr>
      </p:pic>
      <p:sp>
        <p:nvSpPr>
          <p:cNvPr id="9" name="TextBox 8"/>
          <p:cNvSpPr txBox="1"/>
          <p:nvPr/>
        </p:nvSpPr>
        <p:spPr>
          <a:xfrm>
            <a:off x="6565391" y="4553711"/>
            <a:ext cx="4206239"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Workshops &amp; Tutorials</a:t>
            </a:r>
          </a:p>
        </p:txBody>
      </p:sp>
      <p:sp>
        <p:nvSpPr>
          <p:cNvPr id="10" name="TextBox 9"/>
          <p:cNvSpPr txBox="1"/>
          <p:nvPr/>
        </p:nvSpPr>
        <p:spPr>
          <a:xfrm>
            <a:off x="6473951" y="4937759"/>
            <a:ext cx="4389119" cy="658367"/>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whole series: every workshop, tutorial, and deck in one place</a:t>
            </a:r>
          </a:p>
        </p:txBody>
      </p:sp>
      <p:sp>
        <p:nvSpPr>
          <p:cNvPr id="11" name="TextBox 10"/>
          <p:cNvSpPr txBox="1"/>
          <p:nvPr/>
        </p:nvSpPr>
        <p:spPr>
          <a:xfrm>
            <a:off x="6473951" y="5596127"/>
            <a:ext cx="4389119"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patterncatalyst.github.io/patterncatalyst-workshops-tutorials-list</a:t>
            </a:r>
          </a:p>
        </p:txBody>
      </p:sp>
      <p:sp>
        <p:nvSpPr>
          <p:cNvPr id="12" name="TextBox 11"/>
          <p:cNvSpPr txBox="1"/>
          <p:nvPr/>
        </p:nvSpPr>
        <p:spPr>
          <a:xfrm>
            <a:off x="566927" y="6364223"/>
            <a:ext cx="914399" cy="274319"/>
          </a:xfrm>
          <a:prstGeom prst="rect">
            <a:avLst/>
          </a:prstGeom>
          <a:noFill/>
        </p:spPr>
        <p:txBody>
          <a:bodyPr wrap="square" lIns="0" rIns="0" tIns="0" bIns="0" anchor="ctr">
            <a:spAutoFit/>
          </a:bodyPr>
          <a:lstStyle/>
          <a:p>
            <a:pPr algn="l"/>
            <a:r>
              <a:rPr sz="999" b="0" i="0">
                <a:solidFill>
                  <a:srgbClr val="8A8A8A"/>
                </a:solidFill>
                <a:latin typeface="Red Hat Text"/>
                <a:cs typeface="Red Hat Text"/>
              </a:rPr>
              <a:t>68</a:t>
            </a:r>
          </a:p>
        </p:txBody>
      </p:sp>
      <p:pic>
        <p:nvPicPr>
          <p:cNvPr id="13" name="Picture 12" descr="logo-candidate-2.png"/>
          <p:cNvPicPr>
            <a:picLocks noChangeAspect="1"/>
          </p:cNvPicPr>
          <p:nvPr/>
        </p:nvPicPr>
        <p:blipFill>
          <a:blip r:embed="rId4"/>
          <a:stretch>
            <a:fillRect/>
          </a:stretch>
        </p:blipFill>
        <p:spPr>
          <a:xfrm>
            <a:off x="10561319" y="6355079"/>
            <a:ext cx="1033271" cy="24688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